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72" r:id="rId5"/>
  </p:sldMasterIdLst>
  <p:notesMasterIdLst>
    <p:notesMasterId r:id="rId31"/>
  </p:notesMasterIdLst>
  <p:sldIdLst>
    <p:sldId id="256" r:id="rId6"/>
    <p:sldId id="257" r:id="rId7"/>
    <p:sldId id="258" r:id="rId8"/>
    <p:sldId id="308" r:id="rId9"/>
    <p:sldId id="319" r:id="rId10"/>
    <p:sldId id="318" r:id="rId11"/>
    <p:sldId id="320" r:id="rId12"/>
    <p:sldId id="321" r:id="rId13"/>
    <p:sldId id="322" r:id="rId14"/>
    <p:sldId id="317" r:id="rId15"/>
    <p:sldId id="309" r:id="rId16"/>
    <p:sldId id="323" r:id="rId17"/>
    <p:sldId id="310" r:id="rId18"/>
    <p:sldId id="324" r:id="rId19"/>
    <p:sldId id="311" r:id="rId20"/>
    <p:sldId id="326" r:id="rId21"/>
    <p:sldId id="325" r:id="rId22"/>
    <p:sldId id="312" r:id="rId23"/>
    <p:sldId id="314" r:id="rId24"/>
    <p:sldId id="329" r:id="rId25"/>
    <p:sldId id="315" r:id="rId26"/>
    <p:sldId id="328" r:id="rId27"/>
    <p:sldId id="316" r:id="rId28"/>
    <p:sldId id="327" r:id="rId29"/>
    <p:sldId id="283" r:id="rId30"/>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73BA"/>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874" y="43"/>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276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tableStyles" Target="tableStyles.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BD456647-89B1-42F3-9A5F-1446C4467342}" type="datetimeFigureOut">
              <a:rPr lang="en-IN" smtClean="0"/>
              <a:t>03-03-2025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AA9D9FB-1D01-48BF-AE8F-A64DB01B7CD6}" type="slidenum">
              <a:rPr lang="en-IN" smtClean="0"/>
              <a:t>‹#›</a:t>
            </a:fld>
            <a:endParaRPr lang="en-IN"/>
          </a:p>
        </p:txBody>
      </p:sp>
    </p:spTree>
    <p:extLst>
      <p:ext uri="{BB962C8B-B14F-4D97-AF65-F5344CB8AC3E}">
        <p14:creationId xmlns:p14="http://schemas.microsoft.com/office/powerpoint/2010/main" val="2959929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762000" y="2667000"/>
            <a:ext cx="9737728" cy="574039"/>
          </a:xfrm>
        </p:spPr>
        <p:txBody>
          <a:bodyPr lIns="0" tIns="0" rIns="0" bIns="0"/>
          <a:lstStyle>
            <a:lvl1pPr>
              <a:defRPr sz="3600" b="0" i="0">
                <a:solidFill>
                  <a:srgbClr val="2D73BA"/>
                </a:solidFill>
                <a:latin typeface="Verdana"/>
                <a:cs typeface="Verdana"/>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949CED5-A06E-4DB9-83C6-484D659A6B20}" type="datetime1">
              <a:rPr lang="en-US" smtClean="0"/>
              <a:t>3/3/2025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7" name="bg object 17"/>
          <p:cNvSpPr/>
          <p:nvPr/>
        </p:nvSpPr>
        <p:spPr>
          <a:xfrm>
            <a:off x="6096000" y="1762125"/>
            <a:ext cx="0" cy="4645660"/>
          </a:xfrm>
          <a:custGeom>
            <a:avLst/>
            <a:gdLst/>
            <a:ahLst/>
            <a:cxnLst/>
            <a:rect l="l" t="t" r="r" b="b"/>
            <a:pathLst>
              <a:path h="4645660">
                <a:moveTo>
                  <a:pt x="0" y="0"/>
                </a:moveTo>
                <a:lnTo>
                  <a:pt x="1" y="4645479"/>
                </a:lnTo>
              </a:path>
            </a:pathLst>
          </a:custGeom>
          <a:ln w="25400">
            <a:solidFill>
              <a:srgbClr val="F05A28"/>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chemeClr val="bg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55DC247-48D7-49C2-9543-09CD3714C84D}" type="datetime1">
              <a:rPr lang="en-US" smtClean="0"/>
              <a:t>3/3/2025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0" name="Picture 9" descr="Shape, rectangle&#10;&#10;Description automatically generated">
            <a:extLst>
              <a:ext uri="{FF2B5EF4-FFF2-40B4-BE49-F238E27FC236}">
                <a16:creationId xmlns:a16="http://schemas.microsoft.com/office/drawing/2014/main" id="{090A7048-987D-91C5-E06F-B1D54670513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7916" y="0"/>
            <a:ext cx="5053416" cy="6858000"/>
          </a:xfrm>
          <a:prstGeom prst="rect">
            <a:avLst/>
          </a:prstGeom>
        </p:spPr>
      </p:pic>
      <p:sp>
        <p:nvSpPr>
          <p:cNvPr id="2" name="Holder 2"/>
          <p:cNvSpPr>
            <a:spLocks noGrp="1"/>
          </p:cNvSpPr>
          <p:nvPr>
            <p:ph type="title"/>
          </p:nvPr>
        </p:nvSpPr>
        <p:spPr>
          <a:xfrm>
            <a:off x="5333999" y="1922779"/>
            <a:ext cx="5630863" cy="574039"/>
          </a:xfrm>
        </p:spPr>
        <p:txBody>
          <a:bodyPr lIns="0" tIns="0" rIns="0" bIns="0"/>
          <a:lstStyle>
            <a:lvl1pPr>
              <a:defRPr sz="3600" b="0" i="0">
                <a:solidFill>
                  <a:schemeClr val="bg1"/>
                </a:solidFill>
                <a:latin typeface="Verdana"/>
                <a:cs typeface="Verdana"/>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825CBC50-1615-41CB-A11D-40306652CAB0}" type="datetime1">
              <a:rPr lang="en-US" smtClean="0"/>
              <a:t>3/3/2025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FDED7CDC-C294-4151-A987-D3C1163EBEF2}" type="datetime1">
              <a:rPr lang="en-US" smtClean="0"/>
              <a:t>3/3/2025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1_Title Slide">
    <p:bg>
      <p:bgPr>
        <a:solidFill>
          <a:schemeClr val="bg1"/>
        </a:solidFill>
        <a:effectLst/>
      </p:bgPr>
    </p:bg>
    <p:spTree>
      <p:nvGrpSpPr>
        <p:cNvPr id="1" name=""/>
        <p:cNvGrpSpPr/>
        <p:nvPr/>
      </p:nvGrpSpPr>
      <p:grpSpPr>
        <a:xfrm>
          <a:off x="0" y="0"/>
          <a:ext cx="0" cy="0"/>
          <a:chOff x="0" y="0"/>
          <a:chExt cx="0" cy="0"/>
        </a:xfrm>
      </p:grpSpPr>
      <p:pic>
        <p:nvPicPr>
          <p:cNvPr id="9" name="Picture 8" descr="Shape, rectangle&#10;&#10;Description automatically generated">
            <a:extLst>
              <a:ext uri="{FF2B5EF4-FFF2-40B4-BE49-F238E27FC236}">
                <a16:creationId xmlns:a16="http://schemas.microsoft.com/office/drawing/2014/main" id="{98F9C8C1-E342-AFBD-A7CE-6418609BCB4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7916" y="0"/>
            <a:ext cx="5053416" cy="6858000"/>
          </a:xfrm>
          <a:prstGeom prst="rect">
            <a:avLst/>
          </a:prstGeom>
        </p:spPr>
      </p:pic>
      <p:sp>
        <p:nvSpPr>
          <p:cNvPr id="2" name="Holder 2"/>
          <p:cNvSpPr>
            <a:spLocks noGrp="1"/>
          </p:cNvSpPr>
          <p:nvPr>
            <p:ph type="ctrTitle"/>
          </p:nvPr>
        </p:nvSpPr>
        <p:spPr>
          <a:xfrm>
            <a:off x="4800600" y="1922779"/>
            <a:ext cx="6146928" cy="574039"/>
          </a:xfrm>
          <a:prstGeom prst="rect">
            <a:avLst/>
          </a:prstGeom>
        </p:spPr>
        <p:txBody>
          <a:bodyPr wrap="square" lIns="0" tIns="0" rIns="0" bIns="0">
            <a:spAutoFit/>
          </a:bodyPr>
          <a:lstStyle>
            <a:lvl1pPr>
              <a:defRPr b="0" i="0">
                <a:solidFill>
                  <a:schemeClr val="tx1"/>
                </a:solidFill>
              </a:defRPr>
            </a:lvl1pPr>
          </a:lstStyle>
          <a:p>
            <a:endParaRPr dirty="0"/>
          </a:p>
        </p:txBody>
      </p:sp>
      <p:sp>
        <p:nvSpPr>
          <p:cNvPr id="3" name="Holder 3"/>
          <p:cNvSpPr>
            <a:spLocks noGrp="1"/>
          </p:cNvSpPr>
          <p:nvPr>
            <p:ph type="subTitle" idx="4"/>
          </p:nvPr>
        </p:nvSpPr>
        <p:spPr>
          <a:xfrm>
            <a:off x="4800600" y="3840480"/>
            <a:ext cx="5562600" cy="1714500"/>
          </a:xfrm>
          <a:prstGeom prst="rect">
            <a:avLst/>
          </a:prstGeom>
        </p:spPr>
        <p:txBody>
          <a:bodyPr wrap="square" lIns="0" tIns="0" rIns="0" bIns="0">
            <a:spAutoFit/>
          </a:bodyPr>
          <a:lstStyle>
            <a:lvl1pPr>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01A8335-C1F8-42A6-BD9C-42D2B4CD4CC3}" type="datetime1">
              <a:rPr lang="en-US" smtClean="0"/>
              <a:t>3/3/2025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pic>
        <p:nvPicPr>
          <p:cNvPr id="7" name="Picture 6" descr="Icon&#10;&#10;Description automatically generated">
            <a:extLst>
              <a:ext uri="{FF2B5EF4-FFF2-40B4-BE49-F238E27FC236}">
                <a16:creationId xmlns:a16="http://schemas.microsoft.com/office/drawing/2014/main" id="{DCF852E1-6F60-BFCD-296B-C2D5D6EE97E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02080" y="2621280"/>
            <a:ext cx="1219200" cy="12192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43744" y="2092811"/>
            <a:ext cx="10104511" cy="7569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2E4C9383-2DD4-4352-88B0-182EAE24F4FB}" type="datetime1">
              <a:rPr lang="en-US" smtClean="0"/>
              <a:t>3/3/2025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283512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1F1F"/>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004046E-E6F0-4DBC-B61A-4BB671E039F0}" type="datetime1">
              <a:rPr lang="en-US" smtClean="0"/>
              <a:t>3/3/2025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146082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1F1F"/>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7A71615C-53EC-415C-9321-4FFA9D4A8F4B}" type="datetime1">
              <a:rPr lang="en-US" smtClean="0"/>
              <a:t>3/3/2025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9" name="Rectangle 8">
            <a:extLst>
              <a:ext uri="{FF2B5EF4-FFF2-40B4-BE49-F238E27FC236}">
                <a16:creationId xmlns:a16="http://schemas.microsoft.com/office/drawing/2014/main" id="{240CCF29-763E-A160-BFE4-EEEA28EF4716}"/>
              </a:ext>
            </a:extLst>
          </p:cNvPr>
          <p:cNvSpPr/>
          <p:nvPr userDrawn="1"/>
        </p:nvSpPr>
        <p:spPr>
          <a:xfrm>
            <a:off x="6096000" y="1577340"/>
            <a:ext cx="45719" cy="45262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2427238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rgbClr val="1F1F1F"/>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CEA3574-4920-4744-B9F8-B4CA56C36FBE}" type="datetime1">
              <a:rPr lang="en-US" smtClean="0"/>
              <a:t>3/3/2025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
        <p:nvSpPr>
          <p:cNvPr id="8" name="Rectangle 7">
            <a:extLst>
              <a:ext uri="{FF2B5EF4-FFF2-40B4-BE49-F238E27FC236}">
                <a16:creationId xmlns:a16="http://schemas.microsoft.com/office/drawing/2014/main" id="{0BECE1DB-19F6-AA44-4862-E419FEA222C1}"/>
              </a:ext>
            </a:extLst>
          </p:cNvPr>
          <p:cNvSpPr/>
          <p:nvPr userDrawn="1"/>
        </p:nvSpPr>
        <p:spPr>
          <a:xfrm>
            <a:off x="785375" y="3383281"/>
            <a:ext cx="10621248" cy="4571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147818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6" name="Picture 5" descr="Shape, rectangle&#10;&#10;Description automatically generated">
            <a:extLst>
              <a:ext uri="{FF2B5EF4-FFF2-40B4-BE49-F238E27FC236}">
                <a16:creationId xmlns:a16="http://schemas.microsoft.com/office/drawing/2014/main" id="{0D80A00D-1493-0520-C8A4-EA587A66C36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6096000" cy="685800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US"/>
              <a:t>Stored Procedure</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DDDD9737-296E-455B-9530-EED3DC15FB6E}" type="datetime1">
              <a:rPr lang="en-US" smtClean="0"/>
              <a:t>3/3/2025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4414097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27135" y="1922779"/>
            <a:ext cx="9737728" cy="574039"/>
          </a:xfrm>
          <a:prstGeom prst="rect">
            <a:avLst/>
          </a:prstGeom>
        </p:spPr>
        <p:txBody>
          <a:bodyPr wrap="square" lIns="0" tIns="0" rIns="0" bIns="0">
            <a:spAutoFit/>
          </a:bodyPr>
          <a:lstStyle>
            <a:lvl1pPr>
              <a:defRPr sz="3600" b="0" i="0">
                <a:solidFill>
                  <a:schemeClr val="bg1"/>
                </a:solidFill>
                <a:latin typeface="Verdana"/>
                <a:cs typeface="Verdana"/>
              </a:defRPr>
            </a:lvl1pPr>
          </a:lstStyle>
          <a:p>
            <a:endParaRPr/>
          </a:p>
        </p:txBody>
      </p:sp>
      <p:sp>
        <p:nvSpPr>
          <p:cNvPr id="3" name="Holder 3"/>
          <p:cNvSpPr>
            <a:spLocks noGrp="1"/>
          </p:cNvSpPr>
          <p:nvPr>
            <p:ph type="body" idx="1"/>
          </p:nvPr>
        </p:nvSpPr>
        <p:spPr>
          <a:xfrm>
            <a:off x="645773" y="2011171"/>
            <a:ext cx="10900452" cy="3402965"/>
          </a:xfrm>
          <a:prstGeom prst="rect">
            <a:avLst/>
          </a:prstGeom>
        </p:spPr>
        <p:txBody>
          <a:bodyPr wrap="square" lIns="0" tIns="0" rIns="0" bIns="0">
            <a:spAutoFit/>
          </a:bodyPr>
          <a:lstStyle>
            <a:lvl1pPr>
              <a:defRPr b="0" i="0">
                <a:solidFill>
                  <a:schemeClr val="tx1"/>
                </a:solidFill>
              </a:defRPr>
            </a:lvl1pPr>
          </a:lstStyle>
          <a:p>
            <a:endParaRPr dirty="0"/>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Stored Procedure</a:t>
            </a:r>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BDEB7B3F-B758-49DA-810A-54A60887452C}" type="datetime1">
              <a:rPr lang="en-US" smtClean="0"/>
              <a:t>3/3/2025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Rectangle 7">
            <a:extLst>
              <a:ext uri="{FF2B5EF4-FFF2-40B4-BE49-F238E27FC236}">
                <a16:creationId xmlns:a16="http://schemas.microsoft.com/office/drawing/2014/main" id="{F296974D-2071-5725-CC56-0B4379646DD7}"/>
              </a:ext>
            </a:extLst>
          </p:cNvPr>
          <p:cNvSpPr/>
          <p:nvPr userDrawn="1"/>
        </p:nvSpPr>
        <p:spPr>
          <a:xfrm>
            <a:off x="785375" y="3383281"/>
            <a:ext cx="10621248" cy="45719"/>
          </a:xfrm>
          <a:prstGeom prst="rect">
            <a:avLst/>
          </a:prstGeom>
          <a:solidFill>
            <a:srgbClr val="4F81BD"/>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Calibri"/>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85375" y="2718906"/>
            <a:ext cx="10621248" cy="574039"/>
          </a:xfrm>
          <a:prstGeom prst="rect">
            <a:avLst/>
          </a:prstGeom>
        </p:spPr>
        <p:txBody>
          <a:bodyPr wrap="square" lIns="0" tIns="0" rIns="0" bIns="0">
            <a:spAutoFit/>
          </a:bodyPr>
          <a:lstStyle>
            <a:lvl1pPr>
              <a:defRPr sz="3600" b="0" i="0">
                <a:solidFill>
                  <a:srgbClr val="1F1F1F"/>
                </a:solidFill>
                <a:latin typeface="Verdana"/>
                <a:cs typeface="Verdana"/>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r>
              <a:rPr lang="en-US"/>
              <a:t>Stored Procedure</a:t>
            </a:r>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D576F875-012D-4828-A112-12062FA9CC53}" type="datetime1">
              <a:rPr lang="en-US" smtClean="0"/>
              <a:t>3/3/2025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081917803"/>
      </p:ext>
    </p:extLst>
  </p:cSld>
  <p:clrMap bg1="lt1" tx1="dk1" bg2="lt2" tx2="dk2" accent1="accent1" accent2="accent2" accent3="accent3" accent4="accent4" accent5="accent5" accent6="accent6" hlink="hlink" folHlink="folHlink"/>
  <p:sldLayoutIdLst>
    <p:sldLayoutId id="2147483661" r:id="rId1"/>
    <p:sldLayoutId id="2147483673" r:id="rId2"/>
    <p:sldLayoutId id="2147483674" r:id="rId3"/>
    <p:sldLayoutId id="2147483675" r:id="rId4"/>
    <p:sldLayoutId id="2147483676" r:id="rId5"/>
    <p:sldLayoutId id="2147483677"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p:nvPr/>
        </p:nvSpPr>
        <p:spPr>
          <a:xfrm>
            <a:off x="2667000" y="4579833"/>
            <a:ext cx="3571240" cy="1255728"/>
          </a:xfrm>
          <a:prstGeom prst="rect">
            <a:avLst/>
          </a:prstGeom>
        </p:spPr>
        <p:txBody>
          <a:bodyPr vert="horz" wrap="square" lIns="0" tIns="12700" rIns="0" bIns="0" rtlCol="0">
            <a:spAutoFit/>
          </a:bodyPr>
          <a:lstStyle/>
          <a:p>
            <a:pPr marL="12700">
              <a:lnSpc>
                <a:spcPct val="150000"/>
              </a:lnSpc>
              <a:spcBef>
                <a:spcPts val="100"/>
              </a:spcBef>
            </a:pPr>
            <a:r>
              <a:rPr lang="en-IN" sz="2400" spc="20" dirty="0">
                <a:solidFill>
                  <a:srgbClr val="2D73BA"/>
                </a:solidFill>
                <a:latin typeface="Verdana"/>
                <a:cs typeface="Verdana"/>
              </a:rPr>
              <a:t>Soyeb Ghachi</a:t>
            </a:r>
            <a:endParaRPr sz="2400" dirty="0">
              <a:solidFill>
                <a:srgbClr val="2D73BA"/>
              </a:solidFill>
              <a:latin typeface="Verdana"/>
              <a:cs typeface="Verdana"/>
            </a:endParaRPr>
          </a:p>
          <a:p>
            <a:pPr marL="12700">
              <a:lnSpc>
                <a:spcPct val="150000"/>
              </a:lnSpc>
            </a:pPr>
            <a:r>
              <a:rPr lang="en-IN" sz="1600" spc="65" dirty="0">
                <a:solidFill>
                  <a:srgbClr val="202020"/>
                </a:solidFill>
                <a:latin typeface="Verdana"/>
                <a:cs typeface="Verdana"/>
              </a:rPr>
              <a:t>Technical Trainer | Mentor |SME</a:t>
            </a:r>
          </a:p>
          <a:p>
            <a:pPr marL="12700">
              <a:lnSpc>
                <a:spcPct val="150000"/>
              </a:lnSpc>
            </a:pPr>
            <a:endParaRPr sz="1600" dirty="0">
              <a:latin typeface="Verdana"/>
              <a:cs typeface="Verdana"/>
            </a:endParaRPr>
          </a:p>
        </p:txBody>
      </p:sp>
      <p:sp>
        <p:nvSpPr>
          <p:cNvPr id="8" name="object 8"/>
          <p:cNvSpPr txBox="1">
            <a:spLocks noGrp="1"/>
          </p:cNvSpPr>
          <p:nvPr>
            <p:ph type="title"/>
          </p:nvPr>
        </p:nvSpPr>
        <p:spPr>
          <a:xfrm>
            <a:off x="853932" y="2647479"/>
            <a:ext cx="10768615" cy="628377"/>
          </a:xfrm>
          <a:prstGeom prst="rect">
            <a:avLst/>
          </a:prstGeom>
        </p:spPr>
        <p:txBody>
          <a:bodyPr vert="horz" wrap="square" lIns="0" tIns="12700" rIns="0" bIns="0" rtlCol="0">
            <a:spAutoFit/>
          </a:bodyPr>
          <a:lstStyle/>
          <a:p>
            <a:pPr marL="12700">
              <a:lnSpc>
                <a:spcPct val="100000"/>
              </a:lnSpc>
              <a:spcBef>
                <a:spcPts val="100"/>
              </a:spcBef>
            </a:pPr>
            <a:r>
              <a:rPr lang="en-US" sz="4000" dirty="0"/>
              <a:t>Stored Procedures in MS-SQL Server</a:t>
            </a:r>
            <a:endParaRPr lang="en-IN" sz="4000" dirty="0"/>
          </a:p>
        </p:txBody>
      </p:sp>
      <p:pic>
        <p:nvPicPr>
          <p:cNvPr id="10" name="Picture 9">
            <a:extLst>
              <a:ext uri="{FF2B5EF4-FFF2-40B4-BE49-F238E27FC236}">
                <a16:creationId xmlns:a16="http://schemas.microsoft.com/office/drawing/2014/main" id="{BD6C66D1-E72B-2387-9B0A-CB049C4640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4670389"/>
            <a:ext cx="1428750" cy="1443949"/>
          </a:xfrm>
          <a:prstGeom prst="rect">
            <a:avLst/>
          </a:prstGeom>
          <a:ln>
            <a:noFill/>
          </a:ln>
          <a:effectLst>
            <a:softEdge rad="112500"/>
          </a:effectLst>
        </p:spPr>
      </p:pic>
      <p:sp>
        <p:nvSpPr>
          <p:cNvPr id="11" name="Footer Placeholder 10">
            <a:extLst>
              <a:ext uri="{FF2B5EF4-FFF2-40B4-BE49-F238E27FC236}">
                <a16:creationId xmlns:a16="http://schemas.microsoft.com/office/drawing/2014/main" id="{7E1C5440-B524-ECD9-DEF7-43EA9E9F6D44}"/>
              </a:ext>
            </a:extLst>
          </p:cNvPr>
          <p:cNvSpPr>
            <a:spLocks noGrp="1"/>
          </p:cNvSpPr>
          <p:nvPr>
            <p:ph type="ftr" sz="quarter" idx="5"/>
          </p:nvPr>
        </p:nvSpPr>
        <p:spPr>
          <a:xfrm>
            <a:off x="3413761" y="6377940"/>
            <a:ext cx="4632959"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US" dirty="0">
              <a:solidFill>
                <a:schemeClr val="bg1">
                  <a:lumMod val="75000"/>
                </a:schemeClr>
              </a:solidFill>
              <a:latin typeface="Segoe UI" panose="020B0502040204020203" pitchFamily="34" charset="0"/>
              <a:cs typeface="Segoe UI" panose="020B0502040204020203" pitchFamily="34" charset="0"/>
            </a:endParaRPr>
          </a:p>
        </p:txBody>
      </p:sp>
      <p:sp>
        <p:nvSpPr>
          <p:cNvPr id="3" name="Slide Number Placeholder 2">
            <a:extLst>
              <a:ext uri="{FF2B5EF4-FFF2-40B4-BE49-F238E27FC236}">
                <a16:creationId xmlns:a16="http://schemas.microsoft.com/office/drawing/2014/main" id="{C8B37ECC-511E-49FF-B962-47A8C46AE18A}"/>
              </a:ext>
            </a:extLst>
          </p:cNvPr>
          <p:cNvSpPr>
            <a:spLocks noGrp="1"/>
          </p:cNvSpPr>
          <p:nvPr>
            <p:ph type="sldNum" sz="quarter" idx="7"/>
          </p:nvPr>
        </p:nvSpPr>
        <p:spPr/>
        <p:txBody>
          <a:bodyPr/>
          <a:lstStyle/>
          <a:p>
            <a:fld id="{B6F15528-21DE-4FAA-801E-634DDDAF4B2B}"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64BE80-9AB5-38B2-37C3-AF6DF0B7FB4B}"/>
              </a:ext>
            </a:extLst>
          </p:cNvPr>
          <p:cNvSpPr>
            <a:spLocks noGrp="1"/>
          </p:cNvSpPr>
          <p:nvPr>
            <p:ph type="ftr" sz="quarter" idx="5"/>
          </p:nvPr>
        </p:nvSpPr>
        <p:spPr/>
        <p:txBody>
          <a:bodyPr/>
          <a:lstStyle/>
          <a:p>
            <a:r>
              <a:rPr lang="en-US"/>
              <a:t>Stored Procedure</a:t>
            </a:r>
          </a:p>
        </p:txBody>
      </p:sp>
      <p:sp>
        <p:nvSpPr>
          <p:cNvPr id="2" name="Slide Number Placeholder 1">
            <a:extLst>
              <a:ext uri="{FF2B5EF4-FFF2-40B4-BE49-F238E27FC236}">
                <a16:creationId xmlns:a16="http://schemas.microsoft.com/office/drawing/2014/main" id="{2F920093-7FE7-43C2-B224-C202A5E8B948}"/>
              </a:ext>
            </a:extLst>
          </p:cNvPr>
          <p:cNvSpPr>
            <a:spLocks noGrp="1"/>
          </p:cNvSpPr>
          <p:nvPr>
            <p:ph type="sldNum" sz="quarter" idx="7"/>
          </p:nvPr>
        </p:nvSpPr>
        <p:spPr/>
        <p:txBody>
          <a:bodyPr/>
          <a:lstStyle/>
          <a:p>
            <a:fld id="{B6F15528-21DE-4FAA-801E-634DDDAF4B2B}" type="slidenum">
              <a:rPr lang="en-IN" smtClean="0"/>
              <a:t>2</a:t>
            </a:fld>
            <a:endParaRPr lang="en-IN"/>
          </a:p>
        </p:txBody>
      </p:sp>
      <p:sp>
        <p:nvSpPr>
          <p:cNvPr id="7" name="object 3">
            <a:extLst>
              <a:ext uri="{FF2B5EF4-FFF2-40B4-BE49-F238E27FC236}">
                <a16:creationId xmlns:a16="http://schemas.microsoft.com/office/drawing/2014/main" id="{BC429740-DB83-53F4-3A4C-541E50A89375}"/>
              </a:ext>
            </a:extLst>
          </p:cNvPr>
          <p:cNvSpPr txBox="1"/>
          <p:nvPr/>
        </p:nvSpPr>
        <p:spPr>
          <a:xfrm>
            <a:off x="990600" y="1752600"/>
            <a:ext cx="2147570" cy="574040"/>
          </a:xfrm>
          <a:prstGeom prst="rect">
            <a:avLst/>
          </a:prstGeom>
        </p:spPr>
        <p:txBody>
          <a:bodyPr vert="horz" wrap="square" lIns="0" tIns="12700" rIns="0" bIns="0" rtlCol="0">
            <a:spAutoFit/>
          </a:bodyPr>
          <a:lstStyle/>
          <a:p>
            <a:pPr marL="12700">
              <a:spcBef>
                <a:spcPts val="100"/>
              </a:spcBef>
            </a:pPr>
            <a:r>
              <a:rPr sz="3600" spc="-25" dirty="0">
                <a:solidFill>
                  <a:srgbClr val="FFFFFF"/>
                </a:solidFill>
                <a:latin typeface="Verdana"/>
                <a:cs typeface="Verdana"/>
              </a:rPr>
              <a:t>Overview</a:t>
            </a:r>
            <a:endParaRPr sz="3600" dirty="0">
              <a:solidFill>
                <a:prstClr val="black"/>
              </a:solidFill>
              <a:latin typeface="Verdana"/>
              <a:cs typeface="Verdana"/>
            </a:endParaRPr>
          </a:p>
        </p:txBody>
      </p:sp>
      <p:sp>
        <p:nvSpPr>
          <p:cNvPr id="5" name="TextBox 4">
            <a:extLst>
              <a:ext uri="{FF2B5EF4-FFF2-40B4-BE49-F238E27FC236}">
                <a16:creationId xmlns:a16="http://schemas.microsoft.com/office/drawing/2014/main" id="{0FC9223C-4C4F-73F2-B05E-D7D6F4CA97EF}"/>
              </a:ext>
            </a:extLst>
          </p:cNvPr>
          <p:cNvSpPr txBox="1"/>
          <p:nvPr/>
        </p:nvSpPr>
        <p:spPr>
          <a:xfrm>
            <a:off x="4872387" y="457200"/>
            <a:ext cx="6300438" cy="5539978"/>
          </a:xfrm>
          <a:prstGeom prst="rect">
            <a:avLst/>
          </a:prstGeom>
          <a:noFill/>
        </p:spPr>
        <p:txBody>
          <a:bodyPr wrap="square">
            <a:spAutoFit/>
          </a:bodyPr>
          <a:lstStyle/>
          <a:p>
            <a:pPr>
              <a:lnSpc>
                <a:spcPct val="200000"/>
              </a:lnSpc>
            </a:pPr>
            <a:r>
              <a:rPr lang="en-US" sz="2400" dirty="0">
                <a:solidFill>
                  <a:srgbClr val="2D73BA"/>
                </a:solidFill>
                <a:latin typeface="Verdana" panose="020B0604030504040204" pitchFamily="34" charset="0"/>
                <a:ea typeface="Verdana" panose="020B0604030504040204" pitchFamily="34" charset="0"/>
              </a:rPr>
              <a:t>Stored Procedures in MS-SQL Server</a:t>
            </a:r>
          </a:p>
          <a:p>
            <a:pPr>
              <a:lnSpc>
                <a:spcPct val="200000"/>
              </a:lnSpc>
            </a:pPr>
            <a:r>
              <a:rPr lang="en-US" sz="2400" dirty="0">
                <a:solidFill>
                  <a:srgbClr val="2D73BA"/>
                </a:solidFill>
                <a:latin typeface="Verdana" panose="020B0604030504040204" pitchFamily="34" charset="0"/>
                <a:ea typeface="Verdana" panose="020B0604030504040204" pitchFamily="34" charset="0"/>
              </a:rPr>
              <a:t>Creating a simple stored procedure</a:t>
            </a:r>
          </a:p>
          <a:p>
            <a:pPr>
              <a:lnSpc>
                <a:spcPct val="200000"/>
              </a:lnSpc>
            </a:pPr>
            <a:r>
              <a:rPr lang="en-US" sz="2400" dirty="0">
                <a:solidFill>
                  <a:srgbClr val="2D73BA"/>
                </a:solidFill>
                <a:latin typeface="Verdana" panose="020B0604030504040204" pitchFamily="34" charset="0"/>
                <a:ea typeface="Verdana" panose="020B0604030504040204" pitchFamily="34" charset="0"/>
              </a:rPr>
              <a:t>Modifying a Stored Procedure</a:t>
            </a:r>
          </a:p>
          <a:p>
            <a:pPr>
              <a:lnSpc>
                <a:spcPct val="200000"/>
              </a:lnSpc>
            </a:pPr>
            <a:r>
              <a:rPr lang="en-US" sz="2400" dirty="0">
                <a:solidFill>
                  <a:srgbClr val="2D73BA"/>
                </a:solidFill>
                <a:latin typeface="Verdana" panose="020B0604030504040204" pitchFamily="34" charset="0"/>
                <a:ea typeface="Verdana" panose="020B0604030504040204" pitchFamily="34" charset="0"/>
              </a:rPr>
              <a:t>Deleting a </a:t>
            </a:r>
            <a:r>
              <a:rPr lang="en-US" sz="2400">
                <a:solidFill>
                  <a:srgbClr val="2D73BA"/>
                </a:solidFill>
                <a:latin typeface="Verdana" panose="020B0604030504040204" pitchFamily="34" charset="0"/>
                <a:ea typeface="Verdana" panose="020B0604030504040204" pitchFamily="34" charset="0"/>
              </a:rPr>
              <a:t>Stored Procedure</a:t>
            </a:r>
          </a:p>
          <a:p>
            <a:pPr>
              <a:lnSpc>
                <a:spcPct val="200000"/>
              </a:lnSpc>
            </a:pPr>
            <a:r>
              <a:rPr lang="en-US" sz="2400">
                <a:solidFill>
                  <a:srgbClr val="2D73BA"/>
                </a:solidFill>
                <a:latin typeface="Verdana" panose="020B0604030504040204" pitchFamily="34" charset="0"/>
                <a:ea typeface="Verdana" panose="020B0604030504040204" pitchFamily="34" charset="0"/>
              </a:rPr>
              <a:t>Parameterzied Stored Procedure</a:t>
            </a:r>
            <a:endParaRPr lang="en-US" sz="2400" dirty="0">
              <a:solidFill>
                <a:srgbClr val="2D73BA"/>
              </a:solidFill>
              <a:latin typeface="Verdana" panose="020B0604030504040204" pitchFamily="34" charset="0"/>
              <a:ea typeface="Verdana" panose="020B0604030504040204" pitchFamily="34" charset="0"/>
            </a:endParaRPr>
          </a:p>
          <a:p>
            <a:pPr>
              <a:lnSpc>
                <a:spcPct val="200000"/>
              </a:lnSpc>
            </a:pPr>
            <a:r>
              <a:rPr lang="en-US" sz="2400" dirty="0">
                <a:solidFill>
                  <a:srgbClr val="2D73BA"/>
                </a:solidFill>
                <a:latin typeface="Verdana" panose="020B0604030504040204" pitchFamily="34" charset="0"/>
                <a:ea typeface="Verdana" panose="020B0604030504040204" pitchFamily="34" charset="0"/>
              </a:rPr>
              <a:t>Output Parameters</a:t>
            </a:r>
          </a:p>
          <a:p>
            <a:pPr>
              <a:lnSpc>
                <a:spcPct val="200000"/>
              </a:lnSpc>
            </a:pPr>
            <a:r>
              <a:rPr lang="en-US" sz="2400">
                <a:solidFill>
                  <a:srgbClr val="2D73BA"/>
                </a:solidFill>
                <a:latin typeface="Verdana" panose="020B0604030504040204" pitchFamily="34" charset="0"/>
                <a:ea typeface="Verdana" panose="020B0604030504040204" pitchFamily="34" charset="0"/>
              </a:rPr>
              <a:t>Exception </a:t>
            </a:r>
            <a:r>
              <a:rPr lang="en-US" sz="2400" dirty="0">
                <a:solidFill>
                  <a:srgbClr val="2D73BA"/>
                </a:solidFill>
                <a:latin typeface="Verdana" panose="020B0604030504040204" pitchFamily="34" charset="0"/>
                <a:ea typeface="Verdana" panose="020B0604030504040204" pitchFamily="34" charset="0"/>
              </a:rPr>
              <a:t>Handling</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dirty="0">
                <a:solidFill>
                  <a:srgbClr val="2D73BA"/>
                </a:solidFill>
              </a:rPr>
              <a:t>Stored Procedures in MS-SQL Server</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4</a:t>
            </a:fld>
            <a:endParaRPr lang="en-IN"/>
          </a:p>
        </p:txBody>
      </p:sp>
      <p:sp>
        <p:nvSpPr>
          <p:cNvPr id="2" name="Rectangle 1">
            <a:extLst>
              <a:ext uri="{FF2B5EF4-FFF2-40B4-BE49-F238E27FC236}">
                <a16:creationId xmlns:a16="http://schemas.microsoft.com/office/drawing/2014/main" id="{7B0C61A4-9441-9DCF-F6F1-7A6CF55E4DFE}"/>
              </a:ext>
            </a:extLst>
          </p:cNvPr>
          <p:cNvSpPr/>
          <p:nvPr/>
        </p:nvSpPr>
        <p:spPr>
          <a:xfrm>
            <a:off x="545387" y="609600"/>
            <a:ext cx="11277600" cy="2800062"/>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285750" indent="-285750">
              <a:lnSpc>
                <a:spcPct val="150000"/>
              </a:lnSpc>
              <a:buFont typeface="Arial" panose="020B0604020202020204" pitchFamily="34" charset="0"/>
              <a:buChar char="•"/>
            </a:pPr>
            <a:r>
              <a:rPr lang="en-US" sz="2000" dirty="0">
                <a:latin typeface="Verdana" panose="020B0604030504040204" pitchFamily="34" charset="0"/>
                <a:ea typeface="Verdana" panose="020B0604030504040204" pitchFamily="34" charset="0"/>
              </a:rPr>
              <a:t> A SQL Server stored procedure groups one or more Transact-SQL statements into a logical unit and is stored as an object in the Database Server.</a:t>
            </a:r>
          </a:p>
          <a:p>
            <a:pPr marL="342900" indent="-342900">
              <a:lnSpc>
                <a:spcPct val="150000"/>
              </a:lnSpc>
              <a:buFont typeface="Arial" panose="020B0604020202020204" pitchFamily="34" charset="0"/>
              <a:buChar char="•"/>
            </a:pPr>
            <a:r>
              <a:rPr lang="en-US" sz="2000" dirty="0">
                <a:latin typeface="Verdana" panose="020B0604030504040204" pitchFamily="34" charset="0"/>
                <a:ea typeface="Verdana" panose="020B0604030504040204" pitchFamily="34" charset="0"/>
              </a:rPr>
              <a:t> When a stored procedure is called at the first time, SQL Server creates an execution plan and stores it in the plan cache. </a:t>
            </a:r>
          </a:p>
          <a:p>
            <a:pPr marL="342900" indent="-342900">
              <a:lnSpc>
                <a:spcPct val="150000"/>
              </a:lnSpc>
              <a:buFont typeface="Arial" panose="020B0604020202020204" pitchFamily="34" charset="0"/>
              <a:buChar char="•"/>
            </a:pPr>
            <a:r>
              <a:rPr lang="en-US" sz="2000" dirty="0">
                <a:latin typeface="Verdana" panose="020B0604030504040204" pitchFamily="34" charset="0"/>
                <a:ea typeface="Verdana" panose="020B0604030504040204" pitchFamily="34" charset="0"/>
              </a:rPr>
              <a:t> In the subsequent executions of the stored procedure, SQL Server reuses the plan so that the stored procedure can execute very fast with reliable performance.</a:t>
            </a:r>
            <a:endParaRPr lang="en-IN" sz="2000"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B927C503-089E-5C6F-F67B-D633775339CE}"/>
              </a:ext>
            </a:extLst>
          </p:cNvPr>
          <p:cNvSpPr txBox="1"/>
          <p:nvPr/>
        </p:nvSpPr>
        <p:spPr>
          <a:xfrm>
            <a:off x="545388" y="3529898"/>
            <a:ext cx="11277599" cy="2997231"/>
          </a:xfrm>
          <a:prstGeom prst="rect">
            <a:avLst/>
          </a:prstGeom>
          <a:noFill/>
          <a:ln>
            <a:solidFill>
              <a:srgbClr val="C00000"/>
            </a:solidFill>
          </a:ln>
        </p:spPr>
        <p:txBody>
          <a:bodyPr wrap="square">
            <a:spAutoFit/>
          </a:bodyPr>
          <a:lstStyle/>
          <a:p>
            <a:pPr>
              <a:lnSpc>
                <a:spcPct val="150000"/>
              </a:lnSpc>
            </a:pPr>
            <a:r>
              <a:rPr lang="en-US" sz="1600">
                <a:latin typeface="Verdana" panose="020B0604030504040204" pitchFamily="34" charset="0"/>
                <a:ea typeface="Verdana" panose="020B0604030504040204" pitchFamily="34" charset="0"/>
              </a:rPr>
              <a:t>CREATE | ALTER |DROP PROCEDURE [schema_name.]procedure_name</a:t>
            </a:r>
          </a:p>
          <a:p>
            <a:pPr>
              <a:lnSpc>
                <a:spcPct val="150000"/>
              </a:lnSpc>
            </a:pPr>
            <a:r>
              <a:rPr lang="en-US" sz="1600">
                <a:latin typeface="Verdana" panose="020B0604030504040204" pitchFamily="34" charset="0"/>
                <a:ea typeface="Verdana" panose="020B0604030504040204" pitchFamily="34" charset="0"/>
              </a:rPr>
              <a:t>    @parameter1 datatype1,</a:t>
            </a:r>
          </a:p>
          <a:p>
            <a:pPr>
              <a:lnSpc>
                <a:spcPct val="150000"/>
              </a:lnSpc>
            </a:pPr>
            <a:r>
              <a:rPr lang="en-US" sz="1600">
                <a:latin typeface="Verdana" panose="020B0604030504040204" pitchFamily="34" charset="0"/>
                <a:ea typeface="Verdana" panose="020B0604030504040204" pitchFamily="34" charset="0"/>
              </a:rPr>
              <a:t>    @parameter2 datatype2,</a:t>
            </a:r>
          </a:p>
          <a:p>
            <a:pPr>
              <a:lnSpc>
                <a:spcPct val="150000"/>
              </a:lnSpc>
            </a:pPr>
            <a:r>
              <a:rPr lang="en-US" sz="1600">
                <a:latin typeface="Verdana" panose="020B0604030504040204" pitchFamily="34" charset="0"/>
                <a:ea typeface="Verdana" panose="020B0604030504040204" pitchFamily="34" charset="0"/>
              </a:rPr>
              <a:t>    ...</a:t>
            </a:r>
          </a:p>
          <a:p>
            <a:pPr>
              <a:lnSpc>
                <a:spcPct val="150000"/>
              </a:lnSpc>
            </a:pPr>
            <a:r>
              <a:rPr lang="en-US" sz="1600">
                <a:latin typeface="Verdana" panose="020B0604030504040204" pitchFamily="34" charset="0"/>
                <a:ea typeface="Verdana" panose="020B0604030504040204" pitchFamily="34" charset="0"/>
              </a:rPr>
              <a:t>AS</a:t>
            </a:r>
          </a:p>
          <a:p>
            <a:pPr>
              <a:lnSpc>
                <a:spcPct val="150000"/>
              </a:lnSpc>
            </a:pPr>
            <a:r>
              <a:rPr lang="en-US" sz="1600">
                <a:latin typeface="Verdana" panose="020B0604030504040204" pitchFamily="34" charset="0"/>
                <a:ea typeface="Verdana" panose="020B0604030504040204" pitchFamily="34" charset="0"/>
              </a:rPr>
              <a:t>BEGIN</a:t>
            </a:r>
          </a:p>
          <a:p>
            <a:pPr>
              <a:lnSpc>
                <a:spcPct val="150000"/>
              </a:lnSpc>
            </a:pPr>
            <a:r>
              <a:rPr lang="en-US" sz="1600">
                <a:latin typeface="Verdana" panose="020B0604030504040204" pitchFamily="34" charset="0"/>
                <a:ea typeface="Verdana" panose="020B0604030504040204" pitchFamily="34" charset="0"/>
              </a:rPr>
              <a:t>    -- SQL statements and logic go here</a:t>
            </a:r>
          </a:p>
          <a:p>
            <a:pPr>
              <a:lnSpc>
                <a:spcPct val="150000"/>
              </a:lnSpc>
            </a:pPr>
            <a:r>
              <a:rPr lang="en-US" sz="1600">
                <a:latin typeface="Verdana" panose="020B0604030504040204" pitchFamily="34" charset="0"/>
                <a:ea typeface="Verdana" panose="020B0604030504040204" pitchFamily="34" charset="0"/>
              </a:rPr>
              <a:t>END;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Advantages of using Stored Procedures </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5</a:t>
            </a:fld>
            <a:endParaRPr lang="en-IN"/>
          </a:p>
        </p:txBody>
      </p:sp>
    </p:spTree>
    <p:extLst>
      <p:ext uri="{BB962C8B-B14F-4D97-AF65-F5344CB8AC3E}">
        <p14:creationId xmlns:p14="http://schemas.microsoft.com/office/powerpoint/2010/main" val="1376722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6</a:t>
            </a:fld>
            <a:endParaRPr lang="en-IN"/>
          </a:p>
        </p:txBody>
      </p:sp>
      <p:sp>
        <p:nvSpPr>
          <p:cNvPr id="2" name="Rectangle 1">
            <a:extLst>
              <a:ext uri="{FF2B5EF4-FFF2-40B4-BE49-F238E27FC236}">
                <a16:creationId xmlns:a16="http://schemas.microsoft.com/office/drawing/2014/main" id="{7B0C61A4-9441-9DCF-F6F1-7A6CF55E4DFE}"/>
              </a:ext>
            </a:extLst>
          </p:cNvPr>
          <p:cNvSpPr/>
          <p:nvPr/>
        </p:nvSpPr>
        <p:spPr>
          <a:xfrm>
            <a:off x="533400" y="838200"/>
            <a:ext cx="11277600" cy="1876732"/>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285750" indent="-285750">
              <a:lnSpc>
                <a:spcPct val="150000"/>
              </a:lnSpc>
              <a:buFont typeface="Arial" panose="020B0604020202020204" pitchFamily="34" charset="0"/>
              <a:buChar char="•"/>
            </a:pPr>
            <a:r>
              <a:rPr lang="en-US" sz="2000">
                <a:latin typeface="Verdana" panose="020B0604030504040204" pitchFamily="34" charset="0"/>
                <a:ea typeface="Verdana" panose="020B0604030504040204" pitchFamily="34" charset="0"/>
              </a:rPr>
              <a:t> </a:t>
            </a:r>
            <a:r>
              <a:rPr lang="en-US" sz="2000" b="1">
                <a:latin typeface="Verdana" panose="020B0604030504040204" pitchFamily="34" charset="0"/>
                <a:ea typeface="Verdana" panose="020B0604030504040204" pitchFamily="34" charset="0"/>
              </a:rPr>
              <a:t>Improved Performance: </a:t>
            </a:r>
            <a:r>
              <a:rPr lang="en-US" sz="2000">
                <a:latin typeface="Verdana" panose="020B0604030504040204" pitchFamily="34" charset="0"/>
                <a:ea typeface="Verdana" panose="020B0604030504040204" pitchFamily="34" charset="0"/>
              </a:rPr>
              <a:t>Stored procedures are precompiled and stored in the database, which can result in improved performance. Once compiled, they are executed more efficiently than ad hoc SQL statements, reducing the overhead of query parsing and optimization.</a:t>
            </a:r>
            <a:endParaRPr lang="en-IN" sz="2000" dirty="0">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9D42ECCD-8628-6C83-A0C0-3E17BBDE3061}"/>
              </a:ext>
            </a:extLst>
          </p:cNvPr>
          <p:cNvSpPr txBox="1"/>
          <p:nvPr/>
        </p:nvSpPr>
        <p:spPr>
          <a:xfrm>
            <a:off x="526551" y="2973870"/>
            <a:ext cx="10896600" cy="233839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Reduced Network Traffic: </a:t>
            </a:r>
            <a:r>
              <a:rPr lang="en-US" sz="2000">
                <a:latin typeface="Verdana" panose="020B0604030504040204" pitchFamily="34" charset="0"/>
                <a:ea typeface="Verdana" panose="020B0604030504040204" pitchFamily="34" charset="0"/>
              </a:rPr>
              <a:t>With stored procedures, the execution logic is processed on the server side. Only the procedure name and input/output parameters need to be sent over the network, reducing the amount of data transferred between the client and the server. This can lead to improved network performance and reduced latency.</a:t>
            </a:r>
            <a:endParaRPr lang="en-IN" sz="200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104002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7</a:t>
            </a:fld>
            <a:endParaRPr lang="en-IN"/>
          </a:p>
        </p:txBody>
      </p:sp>
      <p:sp>
        <p:nvSpPr>
          <p:cNvPr id="2" name="Rectangle 1">
            <a:extLst>
              <a:ext uri="{FF2B5EF4-FFF2-40B4-BE49-F238E27FC236}">
                <a16:creationId xmlns:a16="http://schemas.microsoft.com/office/drawing/2014/main" id="{7B0C61A4-9441-9DCF-F6F1-7A6CF55E4DFE}"/>
              </a:ext>
            </a:extLst>
          </p:cNvPr>
          <p:cNvSpPr/>
          <p:nvPr/>
        </p:nvSpPr>
        <p:spPr>
          <a:xfrm>
            <a:off x="457200" y="609600"/>
            <a:ext cx="11277600" cy="1876732"/>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285750" indent="-28575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 Enhanced Security: </a:t>
            </a:r>
            <a:r>
              <a:rPr lang="en-US" sz="2000">
                <a:latin typeface="Verdana" panose="020B0604030504040204" pitchFamily="34" charset="0"/>
                <a:ea typeface="Verdana" panose="020B0604030504040204" pitchFamily="34" charset="0"/>
              </a:rPr>
              <a:t>Stored procedures provide an additional layer of security by allowing access to data through the stored procedure interface rather than granting direct table access to users. Permissions can be set at the stored procedure level, ensuring fine-grained control over data access.</a:t>
            </a:r>
            <a:endParaRPr lang="en-IN" sz="2000" dirty="0">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9D42ECCD-8628-6C83-A0C0-3E17BBDE3061}"/>
              </a:ext>
            </a:extLst>
          </p:cNvPr>
          <p:cNvSpPr txBox="1"/>
          <p:nvPr/>
        </p:nvSpPr>
        <p:spPr>
          <a:xfrm>
            <a:off x="457200" y="2555404"/>
            <a:ext cx="10896600" cy="187673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Code Reusability: </a:t>
            </a:r>
            <a:r>
              <a:rPr lang="en-US" sz="2000">
                <a:latin typeface="Verdana" panose="020B0604030504040204" pitchFamily="34" charset="0"/>
                <a:ea typeface="Verdana" panose="020B0604030504040204" pitchFamily="34" charset="0"/>
              </a:rPr>
              <a:t>Stored procedures promote code reuse as they can be called from various applications or different parts of the same application. This reduces redundancy and helps maintain consistency in data processing and business logic.</a:t>
            </a:r>
            <a:endParaRPr lang="en-IN" sz="200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9A22321-03AA-40A6-BFD4-FBAA6FB00C99}"/>
              </a:ext>
            </a:extLst>
          </p:cNvPr>
          <p:cNvSpPr txBox="1"/>
          <p:nvPr/>
        </p:nvSpPr>
        <p:spPr>
          <a:xfrm>
            <a:off x="457200" y="4501208"/>
            <a:ext cx="11277600" cy="187673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Encapsulation and Abstraction: </a:t>
            </a:r>
            <a:r>
              <a:rPr lang="en-US" sz="2000">
                <a:latin typeface="Verdana" panose="020B0604030504040204" pitchFamily="34" charset="0"/>
                <a:ea typeface="Verdana" panose="020B0604030504040204" pitchFamily="34" charset="0"/>
              </a:rPr>
              <a:t>Stored procedures allow you to encapsulate complex SQL queries, business logic, and data manipulation operations into a single unit. This provides a higher level of abstraction, making it easier to understand and maintain the database logic.</a:t>
            </a:r>
            <a:endParaRPr lang="en-IN" sz="200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08296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8</a:t>
            </a:fld>
            <a:endParaRPr lang="en-IN"/>
          </a:p>
        </p:txBody>
      </p:sp>
      <p:sp>
        <p:nvSpPr>
          <p:cNvPr id="2" name="Rectangle 1">
            <a:extLst>
              <a:ext uri="{FF2B5EF4-FFF2-40B4-BE49-F238E27FC236}">
                <a16:creationId xmlns:a16="http://schemas.microsoft.com/office/drawing/2014/main" id="{7B0C61A4-9441-9DCF-F6F1-7A6CF55E4DFE}"/>
              </a:ext>
            </a:extLst>
          </p:cNvPr>
          <p:cNvSpPr/>
          <p:nvPr/>
        </p:nvSpPr>
        <p:spPr>
          <a:xfrm>
            <a:off x="457200" y="609600"/>
            <a:ext cx="11277600" cy="1876732"/>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285750" indent="-285750">
              <a:lnSpc>
                <a:spcPct val="150000"/>
              </a:lnSpc>
              <a:buFont typeface="Arial" panose="020B0604020202020204" pitchFamily="34" charset="0"/>
              <a:buChar char="•"/>
            </a:pPr>
            <a:r>
              <a:rPr lang="en-US" sz="2000">
                <a:latin typeface="Verdana" panose="020B0604030504040204" pitchFamily="34" charset="0"/>
                <a:ea typeface="Verdana" panose="020B0604030504040204" pitchFamily="34" charset="0"/>
              </a:rPr>
              <a:t> </a:t>
            </a:r>
            <a:r>
              <a:rPr lang="en-US" sz="2000" b="1">
                <a:latin typeface="Verdana" panose="020B0604030504040204" pitchFamily="34" charset="0"/>
                <a:ea typeface="Verdana" panose="020B0604030504040204" pitchFamily="34" charset="0"/>
              </a:rPr>
              <a:t>Transaction Management: </a:t>
            </a:r>
            <a:r>
              <a:rPr lang="en-US" sz="2000">
                <a:latin typeface="Verdana" panose="020B0604030504040204" pitchFamily="34" charset="0"/>
                <a:ea typeface="Verdana" panose="020B0604030504040204" pitchFamily="34" charset="0"/>
              </a:rPr>
              <a:t>Stored procedures enable you to define and manage transactions explicitly. By encapsulating multiple SQL statements within a stored procedure, you can ensure that all the statements execute as a single unit, either committing or rolling back the changes atomically.</a:t>
            </a:r>
            <a:endParaRPr lang="en-IN" sz="2000" dirty="0">
              <a:latin typeface="Verdana" panose="020B0604030504040204" pitchFamily="34" charset="0"/>
              <a:ea typeface="Verdana" panose="020B0604030504040204" pitchFamily="34" charset="0"/>
            </a:endParaRPr>
          </a:p>
        </p:txBody>
      </p:sp>
      <p:sp>
        <p:nvSpPr>
          <p:cNvPr id="9" name="TextBox 8">
            <a:extLst>
              <a:ext uri="{FF2B5EF4-FFF2-40B4-BE49-F238E27FC236}">
                <a16:creationId xmlns:a16="http://schemas.microsoft.com/office/drawing/2014/main" id="{9D42ECCD-8628-6C83-A0C0-3E17BBDE3061}"/>
              </a:ext>
            </a:extLst>
          </p:cNvPr>
          <p:cNvSpPr txBox="1"/>
          <p:nvPr/>
        </p:nvSpPr>
        <p:spPr>
          <a:xfrm>
            <a:off x="457200" y="2555404"/>
            <a:ext cx="10896600" cy="187673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Version Control: </a:t>
            </a:r>
            <a:r>
              <a:rPr lang="en-US" sz="2000">
                <a:latin typeface="Verdana" panose="020B0604030504040204" pitchFamily="34" charset="0"/>
                <a:ea typeface="Verdana" panose="020B0604030504040204" pitchFamily="34" charset="0"/>
              </a:rPr>
              <a:t>Stored procedures can be versioned and tracked within the database management system. This allows for better control and management of changes to the database logic, providing the ability to roll back to previous versions if necessary.</a:t>
            </a:r>
            <a:endParaRPr lang="en-IN" sz="200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9A22321-03AA-40A6-BFD4-FBAA6FB00C99}"/>
              </a:ext>
            </a:extLst>
          </p:cNvPr>
          <p:cNvSpPr txBox="1"/>
          <p:nvPr/>
        </p:nvSpPr>
        <p:spPr>
          <a:xfrm>
            <a:off x="457200" y="4501208"/>
            <a:ext cx="11277600" cy="187673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Improved Maintainability: </a:t>
            </a:r>
            <a:r>
              <a:rPr lang="en-US" sz="2000">
                <a:latin typeface="Verdana" panose="020B0604030504040204" pitchFamily="34" charset="0"/>
                <a:ea typeface="Verdana" panose="020B0604030504040204" pitchFamily="34" charset="0"/>
              </a:rPr>
              <a:t>By separating the application logic from the database schema, stored procedures make it easier to maintain and update the database without impacting the application code. Changes to stored procedures can be made independently, reducing the need for application code modifications.</a:t>
            </a:r>
          </a:p>
        </p:txBody>
      </p:sp>
    </p:spTree>
    <p:extLst>
      <p:ext uri="{BB962C8B-B14F-4D97-AF65-F5344CB8AC3E}">
        <p14:creationId xmlns:p14="http://schemas.microsoft.com/office/powerpoint/2010/main" val="2418736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9</a:t>
            </a:fld>
            <a:endParaRPr lang="en-IN"/>
          </a:p>
        </p:txBody>
      </p:sp>
      <p:sp>
        <p:nvSpPr>
          <p:cNvPr id="2" name="Rectangle 1">
            <a:extLst>
              <a:ext uri="{FF2B5EF4-FFF2-40B4-BE49-F238E27FC236}">
                <a16:creationId xmlns:a16="http://schemas.microsoft.com/office/drawing/2014/main" id="{7B0C61A4-9441-9DCF-F6F1-7A6CF55E4DFE}"/>
              </a:ext>
            </a:extLst>
          </p:cNvPr>
          <p:cNvSpPr/>
          <p:nvPr/>
        </p:nvSpPr>
        <p:spPr>
          <a:xfrm>
            <a:off x="457200" y="609600"/>
            <a:ext cx="11277600" cy="1876732"/>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285750" indent="-28575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 Performance Optimization: </a:t>
            </a:r>
            <a:r>
              <a:rPr lang="en-US" sz="2000">
                <a:latin typeface="Verdana" panose="020B0604030504040204" pitchFamily="34" charset="0"/>
                <a:ea typeface="Verdana" panose="020B0604030504040204" pitchFamily="34" charset="0"/>
              </a:rPr>
              <a:t>Stored procedures provide the flexibility to optimize database performance. By predefining the execution plan, utilizing indexing techniques, and implementing efficient query logic within stored procedures, you can enhance overall database performance.</a:t>
            </a:r>
            <a:endParaRPr lang="en-IN" sz="2000"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9A22321-03AA-40A6-BFD4-FBAA6FB00C99}"/>
              </a:ext>
            </a:extLst>
          </p:cNvPr>
          <p:cNvSpPr txBox="1"/>
          <p:nvPr/>
        </p:nvSpPr>
        <p:spPr>
          <a:xfrm>
            <a:off x="762000" y="2743200"/>
            <a:ext cx="10820400" cy="1876732"/>
          </a:xfrm>
          <a:prstGeom prst="rect">
            <a:avLst/>
          </a:prstGeom>
          <a:noFill/>
        </p:spPr>
        <p:txBody>
          <a:bodyPr wrap="square">
            <a:spAutoFit/>
          </a:bodyPr>
          <a:lstStyle/>
          <a:p>
            <a:pPr>
              <a:lnSpc>
                <a:spcPct val="150000"/>
              </a:lnSpc>
            </a:pPr>
            <a:r>
              <a:rPr lang="en-US" sz="2000">
                <a:latin typeface="Verdana" panose="020B0604030504040204" pitchFamily="34" charset="0"/>
                <a:ea typeface="Verdana" panose="020B0604030504040204" pitchFamily="34" charset="0"/>
              </a:rPr>
              <a:t>	Overall, stored procedures offer advantages such as improved performance, reduced network traffic, enhanced security, code reusability, encapsulation, and better maintainability. They provide a powerful mechanism for managing complex database operations and promoting efficient data processing.</a:t>
            </a:r>
          </a:p>
        </p:txBody>
      </p:sp>
    </p:spTree>
    <p:extLst>
      <p:ext uri="{BB962C8B-B14F-4D97-AF65-F5344CB8AC3E}">
        <p14:creationId xmlns:p14="http://schemas.microsoft.com/office/powerpoint/2010/main" val="3672080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Creating a Stored Procedure</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10</a:t>
            </a:fld>
            <a:endParaRPr lang="en-IN"/>
          </a:p>
        </p:txBody>
      </p:sp>
    </p:spTree>
    <p:extLst>
      <p:ext uri="{BB962C8B-B14F-4D97-AF65-F5344CB8AC3E}">
        <p14:creationId xmlns:p14="http://schemas.microsoft.com/office/powerpoint/2010/main" val="60922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11</a:t>
            </a:fld>
            <a:endParaRPr lang="en-IN"/>
          </a:p>
        </p:txBody>
      </p:sp>
      <p:sp>
        <p:nvSpPr>
          <p:cNvPr id="2" name="Rectangle 1">
            <a:extLst>
              <a:ext uri="{FF2B5EF4-FFF2-40B4-BE49-F238E27FC236}">
                <a16:creationId xmlns:a16="http://schemas.microsoft.com/office/drawing/2014/main" id="{534EAAA2-360E-789C-33BB-35E33CF76DC2}"/>
              </a:ext>
            </a:extLst>
          </p:cNvPr>
          <p:cNvSpPr/>
          <p:nvPr/>
        </p:nvSpPr>
        <p:spPr>
          <a:xfrm>
            <a:off x="609600" y="685800"/>
            <a:ext cx="6224781" cy="531684"/>
          </a:xfrm>
          <a:prstGeom prst="rect">
            <a:avLst/>
          </a:prstGeom>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lnSpc>
                <a:spcPct val="150000"/>
              </a:lnSpc>
              <a:buFont typeface="Arial" panose="020B0604020202020204" pitchFamily="34" charset="0"/>
              <a:buChar char="•"/>
            </a:pPr>
            <a:r>
              <a:rPr lang="en-US" sz="2200" b="1" dirty="0">
                <a:latin typeface="Verdana" panose="020B0604030504040204" pitchFamily="34" charset="0"/>
                <a:ea typeface="Verdana" panose="020B0604030504040204" pitchFamily="34" charset="0"/>
              </a:rPr>
              <a:t>Creating a simple stored </a:t>
            </a:r>
            <a:r>
              <a:rPr lang="en-US" sz="2200" b="1">
                <a:latin typeface="Verdana" panose="020B0604030504040204" pitchFamily="34" charset="0"/>
                <a:ea typeface="Verdana" panose="020B0604030504040204" pitchFamily="34" charset="0"/>
              </a:rPr>
              <a:t>procedure:</a:t>
            </a:r>
            <a:endParaRPr lang="en-US" sz="2200" b="1" dirty="0">
              <a:latin typeface="Verdana" panose="020B0604030504040204" pitchFamily="34" charset="0"/>
              <a:ea typeface="Verdana" panose="020B0604030504040204" pitchFamily="34" charset="0"/>
            </a:endParaRPr>
          </a:p>
        </p:txBody>
      </p:sp>
      <p:sp>
        <p:nvSpPr>
          <p:cNvPr id="8" name="TextBox 7">
            <a:extLst>
              <a:ext uri="{FF2B5EF4-FFF2-40B4-BE49-F238E27FC236}">
                <a16:creationId xmlns:a16="http://schemas.microsoft.com/office/drawing/2014/main" id="{C7DD88D9-8E03-1A45-F8E4-B908724A0D01}"/>
              </a:ext>
            </a:extLst>
          </p:cNvPr>
          <p:cNvSpPr txBox="1"/>
          <p:nvPr/>
        </p:nvSpPr>
        <p:spPr>
          <a:xfrm>
            <a:off x="609600" y="1295400"/>
            <a:ext cx="5638800" cy="3046988"/>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CREATE PROCEDURE uspProductList</a:t>
            </a:r>
          </a:p>
          <a:p>
            <a:r>
              <a:rPr lang="en-US" sz="1600">
                <a:latin typeface="Verdana" panose="020B0604030504040204" pitchFamily="34" charset="0"/>
                <a:ea typeface="Verdana" panose="020B0604030504040204" pitchFamily="34" charset="0"/>
              </a:rPr>
              <a:t>AS</a:t>
            </a:r>
          </a:p>
          <a:p>
            <a:r>
              <a:rPr lang="en-US" sz="1600">
                <a:latin typeface="Verdana" panose="020B0604030504040204" pitchFamily="34" charset="0"/>
                <a:ea typeface="Verdana" panose="020B0604030504040204" pitchFamily="34" charset="0"/>
              </a:rPr>
              <a:t>BEGIN</a:t>
            </a:r>
          </a:p>
          <a:p>
            <a:r>
              <a:rPr lang="en-US" sz="1600">
                <a:latin typeface="Verdana" panose="020B0604030504040204" pitchFamily="34" charset="0"/>
                <a:ea typeface="Verdana" panose="020B0604030504040204" pitchFamily="34" charset="0"/>
              </a:rPr>
              <a:t>    SELECT </a:t>
            </a:r>
          </a:p>
          <a:p>
            <a:r>
              <a:rPr lang="en-US" sz="1600">
                <a:latin typeface="Verdana" panose="020B0604030504040204" pitchFamily="34" charset="0"/>
                <a:ea typeface="Verdana" panose="020B0604030504040204" pitchFamily="34" charset="0"/>
              </a:rPr>
              <a:t>        product_name, </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    FROM </a:t>
            </a:r>
          </a:p>
          <a:p>
            <a:r>
              <a:rPr lang="en-US" sz="1600">
                <a:latin typeface="Verdana" panose="020B0604030504040204" pitchFamily="34" charset="0"/>
                <a:ea typeface="Verdana" panose="020B0604030504040204" pitchFamily="34" charset="0"/>
              </a:rPr>
              <a:t>        products</a:t>
            </a:r>
          </a:p>
          <a:p>
            <a:r>
              <a:rPr lang="en-US" sz="1600">
                <a:latin typeface="Verdana" panose="020B0604030504040204" pitchFamily="34" charset="0"/>
                <a:ea typeface="Verdana" panose="020B0604030504040204" pitchFamily="34" charset="0"/>
              </a:rPr>
              <a:t>    ORDER BY </a:t>
            </a:r>
          </a:p>
          <a:p>
            <a:r>
              <a:rPr lang="en-US" sz="1600">
                <a:latin typeface="Verdana" panose="020B0604030504040204" pitchFamily="34" charset="0"/>
                <a:ea typeface="Verdana" panose="020B0604030504040204" pitchFamily="34" charset="0"/>
              </a:rPr>
              <a:t>        product_name;</a:t>
            </a:r>
          </a:p>
          <a:p>
            <a:r>
              <a:rPr lang="en-US" sz="1600">
                <a:latin typeface="Verdana" panose="020B0604030504040204" pitchFamily="34" charset="0"/>
                <a:ea typeface="Verdana" panose="020B0604030504040204" pitchFamily="34" charset="0"/>
              </a:rPr>
              <a:t>END;</a:t>
            </a:r>
          </a:p>
          <a:p>
            <a:endParaRPr lang="en-US" sz="1600">
              <a:latin typeface="Verdana" panose="020B0604030504040204" pitchFamily="34" charset="0"/>
              <a:ea typeface="Verdana" panose="020B0604030504040204" pitchFamily="34" charset="0"/>
            </a:endParaRPr>
          </a:p>
        </p:txBody>
      </p:sp>
      <p:sp>
        <p:nvSpPr>
          <p:cNvPr id="10" name="TextBox 9">
            <a:extLst>
              <a:ext uri="{FF2B5EF4-FFF2-40B4-BE49-F238E27FC236}">
                <a16:creationId xmlns:a16="http://schemas.microsoft.com/office/drawing/2014/main" id="{7C6C6157-2A03-2536-E180-8409F00C1D93}"/>
              </a:ext>
            </a:extLst>
          </p:cNvPr>
          <p:cNvSpPr txBox="1"/>
          <p:nvPr/>
        </p:nvSpPr>
        <p:spPr>
          <a:xfrm>
            <a:off x="583572" y="4690001"/>
            <a:ext cx="6097712" cy="430887"/>
          </a:xfrm>
          <a:prstGeom prst="rect">
            <a:avLst/>
          </a:prstGeom>
          <a:noFill/>
        </p:spPr>
        <p:txBody>
          <a:bodyPr wrap="square">
            <a:spAutoFit/>
          </a:body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Executing a stored procedure</a:t>
            </a:r>
          </a:p>
        </p:txBody>
      </p:sp>
      <p:sp>
        <p:nvSpPr>
          <p:cNvPr id="12" name="TextBox 11">
            <a:extLst>
              <a:ext uri="{FF2B5EF4-FFF2-40B4-BE49-F238E27FC236}">
                <a16:creationId xmlns:a16="http://schemas.microsoft.com/office/drawing/2014/main" id="{AC604DE7-B7A2-BEF8-5F6C-714E7153C1B5}"/>
              </a:ext>
            </a:extLst>
          </p:cNvPr>
          <p:cNvSpPr txBox="1"/>
          <p:nvPr/>
        </p:nvSpPr>
        <p:spPr>
          <a:xfrm>
            <a:off x="618162" y="5457026"/>
            <a:ext cx="5630238" cy="338554"/>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EXEC uspProductList;</a:t>
            </a:r>
          </a:p>
        </p:txBody>
      </p:sp>
      <p:sp>
        <p:nvSpPr>
          <p:cNvPr id="13" name="TextBox 12">
            <a:extLst>
              <a:ext uri="{FF2B5EF4-FFF2-40B4-BE49-F238E27FC236}">
                <a16:creationId xmlns:a16="http://schemas.microsoft.com/office/drawing/2014/main" id="{6E30AFF4-BB53-D623-C9B0-E49B159809B5}"/>
              </a:ext>
            </a:extLst>
          </p:cNvPr>
          <p:cNvSpPr txBox="1"/>
          <p:nvPr/>
        </p:nvSpPr>
        <p:spPr>
          <a:xfrm>
            <a:off x="625868" y="6039386"/>
            <a:ext cx="5622532" cy="338554"/>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uspProductList;</a:t>
            </a:r>
          </a:p>
        </p:txBody>
      </p:sp>
      <p:pic>
        <p:nvPicPr>
          <p:cNvPr id="9" name="Picture 8">
            <a:extLst>
              <a:ext uri="{FF2B5EF4-FFF2-40B4-BE49-F238E27FC236}">
                <a16:creationId xmlns:a16="http://schemas.microsoft.com/office/drawing/2014/main" id="{F2DA7D9A-5A51-1EBD-A6FD-C0F8760F4EDB}"/>
              </a:ext>
            </a:extLst>
          </p:cNvPr>
          <p:cNvPicPr>
            <a:picLocks noChangeAspect="1"/>
          </p:cNvPicPr>
          <p:nvPr/>
        </p:nvPicPr>
        <p:blipFill>
          <a:blip r:embed="rId2"/>
          <a:stretch>
            <a:fillRect/>
          </a:stretch>
        </p:blipFill>
        <p:spPr>
          <a:xfrm>
            <a:off x="6685564" y="1350555"/>
            <a:ext cx="4668235" cy="4926897"/>
          </a:xfrm>
          <a:prstGeom prst="rect">
            <a:avLst/>
          </a:prstGeom>
        </p:spPr>
      </p:pic>
    </p:spTree>
    <p:extLst>
      <p:ext uri="{BB962C8B-B14F-4D97-AF65-F5344CB8AC3E}">
        <p14:creationId xmlns:p14="http://schemas.microsoft.com/office/powerpoint/2010/main" val="1558479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Modifying a Stored Procedure</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12</a:t>
            </a:fld>
            <a:endParaRPr lang="en-IN"/>
          </a:p>
        </p:txBody>
      </p:sp>
    </p:spTree>
    <p:extLst>
      <p:ext uri="{BB962C8B-B14F-4D97-AF65-F5344CB8AC3E}">
        <p14:creationId xmlns:p14="http://schemas.microsoft.com/office/powerpoint/2010/main" val="1412977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13</a:t>
            </a:fld>
            <a:endParaRPr lang="en-IN"/>
          </a:p>
        </p:txBody>
      </p:sp>
      <p:sp>
        <p:nvSpPr>
          <p:cNvPr id="8" name="Rectangle 7">
            <a:extLst>
              <a:ext uri="{FF2B5EF4-FFF2-40B4-BE49-F238E27FC236}">
                <a16:creationId xmlns:a16="http://schemas.microsoft.com/office/drawing/2014/main" id="{DAE89113-A1A9-18C8-86B3-4C1E3C774EFB}"/>
              </a:ext>
            </a:extLst>
          </p:cNvPr>
          <p:cNvSpPr/>
          <p:nvPr/>
        </p:nvSpPr>
        <p:spPr>
          <a:xfrm>
            <a:off x="1447800" y="0"/>
            <a:ext cx="4802918" cy="531684"/>
          </a:xfrm>
          <a:prstGeom prst="rect">
            <a:avLst/>
          </a:prstGeom>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lnSpc>
                <a:spcPct val="150000"/>
              </a:lnSpc>
              <a:buFont typeface="Arial" panose="020B0604020202020204" pitchFamily="34" charset="0"/>
              <a:buChar char="•"/>
            </a:pPr>
            <a:r>
              <a:rPr lang="en-US" sz="2200" b="1" dirty="0">
                <a:latin typeface="Verdana" panose="020B0604030504040204" pitchFamily="34" charset="0"/>
                <a:ea typeface="Verdana" panose="020B0604030504040204" pitchFamily="34" charset="0"/>
              </a:rPr>
              <a:t>Modify a stored procedure:</a:t>
            </a:r>
          </a:p>
        </p:txBody>
      </p:sp>
      <p:sp>
        <p:nvSpPr>
          <p:cNvPr id="10" name="TextBox 9">
            <a:extLst>
              <a:ext uri="{FF2B5EF4-FFF2-40B4-BE49-F238E27FC236}">
                <a16:creationId xmlns:a16="http://schemas.microsoft.com/office/drawing/2014/main" id="{D53C569E-1003-F7B7-A1D0-CA07ECFB1BA4}"/>
              </a:ext>
            </a:extLst>
          </p:cNvPr>
          <p:cNvSpPr txBox="1"/>
          <p:nvPr/>
        </p:nvSpPr>
        <p:spPr>
          <a:xfrm>
            <a:off x="609600" y="1295401"/>
            <a:ext cx="5715000" cy="3293209"/>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ALTER PROCEDURE uspProductList</a:t>
            </a:r>
          </a:p>
          <a:p>
            <a:r>
              <a:rPr lang="en-US" sz="1600">
                <a:latin typeface="Verdana" panose="020B0604030504040204" pitchFamily="34" charset="0"/>
                <a:ea typeface="Verdana" panose="020B0604030504040204" pitchFamily="34" charset="0"/>
              </a:rPr>
              <a:t>AS</a:t>
            </a:r>
          </a:p>
          <a:p>
            <a:r>
              <a:rPr lang="en-US" sz="1600">
                <a:latin typeface="Verdana" panose="020B0604030504040204" pitchFamily="34" charset="0"/>
                <a:ea typeface="Verdana" panose="020B0604030504040204" pitchFamily="34" charset="0"/>
              </a:rPr>
              <a:t>BEGIN</a:t>
            </a:r>
          </a:p>
          <a:p>
            <a:r>
              <a:rPr lang="en-US" sz="1600">
                <a:latin typeface="Verdana" panose="020B0604030504040204" pitchFamily="34" charset="0"/>
                <a:ea typeface="Verdana" panose="020B0604030504040204" pitchFamily="34" charset="0"/>
              </a:rPr>
              <a:t>    SELECT </a:t>
            </a:r>
          </a:p>
          <a:p>
            <a:r>
              <a:rPr lang="en-US" sz="1600">
                <a:latin typeface="Verdana" panose="020B0604030504040204" pitchFamily="34" charset="0"/>
                <a:ea typeface="Verdana" panose="020B0604030504040204" pitchFamily="34" charset="0"/>
              </a:rPr>
              <a:t>        </a:t>
            </a:r>
            <a:r>
              <a:rPr lang="en-US" sz="1600" b="1">
                <a:latin typeface="Verdana" panose="020B0604030504040204" pitchFamily="34" charset="0"/>
                <a:ea typeface="Verdana" panose="020B0604030504040204" pitchFamily="34" charset="0"/>
              </a:rPr>
              <a:t>product_id</a:t>
            </a:r>
            <a:r>
              <a:rPr lang="en-US" sz="1600">
                <a:latin typeface="Verdana" panose="020B0604030504040204" pitchFamily="34" charset="0"/>
                <a:ea typeface="Verdana" panose="020B0604030504040204" pitchFamily="34" charset="0"/>
              </a:rPr>
              <a:t>,</a:t>
            </a:r>
          </a:p>
          <a:p>
            <a:r>
              <a:rPr lang="en-US" sz="1600">
                <a:latin typeface="Verdana" panose="020B0604030504040204" pitchFamily="34" charset="0"/>
                <a:ea typeface="Verdana" panose="020B0604030504040204" pitchFamily="34" charset="0"/>
              </a:rPr>
              <a:t>        product_name, </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    FROM </a:t>
            </a:r>
          </a:p>
          <a:p>
            <a:r>
              <a:rPr lang="en-US" sz="1600">
                <a:latin typeface="Verdana" panose="020B0604030504040204" pitchFamily="34" charset="0"/>
                <a:ea typeface="Verdana" panose="020B0604030504040204" pitchFamily="34" charset="0"/>
              </a:rPr>
              <a:t>        products</a:t>
            </a:r>
          </a:p>
          <a:p>
            <a:r>
              <a:rPr lang="en-US" sz="1600">
                <a:latin typeface="Verdana" panose="020B0604030504040204" pitchFamily="34" charset="0"/>
                <a:ea typeface="Verdana" panose="020B0604030504040204" pitchFamily="34" charset="0"/>
              </a:rPr>
              <a:t>    ORDER BY </a:t>
            </a:r>
          </a:p>
          <a:p>
            <a:r>
              <a:rPr lang="en-US" sz="1600">
                <a:latin typeface="Verdana" panose="020B0604030504040204" pitchFamily="34" charset="0"/>
                <a:ea typeface="Verdana" panose="020B0604030504040204" pitchFamily="34" charset="0"/>
              </a:rPr>
              <a:t>        product_name;</a:t>
            </a:r>
          </a:p>
          <a:p>
            <a:r>
              <a:rPr lang="en-US" sz="1600">
                <a:latin typeface="Verdana" panose="020B0604030504040204" pitchFamily="34" charset="0"/>
                <a:ea typeface="Verdana" panose="020B0604030504040204" pitchFamily="34" charset="0"/>
              </a:rPr>
              <a:t>END;</a:t>
            </a:r>
          </a:p>
          <a:p>
            <a:endParaRPr lang="en-US" sz="1600">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9F773605-0060-CD66-C6DA-E311DDF10651}"/>
              </a:ext>
            </a:extLst>
          </p:cNvPr>
          <p:cNvSpPr txBox="1"/>
          <p:nvPr/>
        </p:nvSpPr>
        <p:spPr>
          <a:xfrm>
            <a:off x="583572" y="4690001"/>
            <a:ext cx="6097712" cy="430887"/>
          </a:xfrm>
          <a:prstGeom prst="rect">
            <a:avLst/>
          </a:prstGeom>
          <a:noFill/>
        </p:spPr>
        <p:txBody>
          <a:bodyPr wrap="square">
            <a:spAutoFit/>
          </a:body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Executing a stored procedure</a:t>
            </a:r>
          </a:p>
        </p:txBody>
      </p:sp>
      <p:sp>
        <p:nvSpPr>
          <p:cNvPr id="12" name="TextBox 11">
            <a:extLst>
              <a:ext uri="{FF2B5EF4-FFF2-40B4-BE49-F238E27FC236}">
                <a16:creationId xmlns:a16="http://schemas.microsoft.com/office/drawing/2014/main" id="{8D72CB79-F4B2-5391-4DB6-78D16666D550}"/>
              </a:ext>
            </a:extLst>
          </p:cNvPr>
          <p:cNvSpPr txBox="1"/>
          <p:nvPr/>
        </p:nvSpPr>
        <p:spPr>
          <a:xfrm>
            <a:off x="618162" y="5457026"/>
            <a:ext cx="5706438" cy="342900"/>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EXEC uspProductList;</a:t>
            </a:r>
          </a:p>
        </p:txBody>
      </p:sp>
      <p:pic>
        <p:nvPicPr>
          <p:cNvPr id="5" name="Picture 4">
            <a:extLst>
              <a:ext uri="{FF2B5EF4-FFF2-40B4-BE49-F238E27FC236}">
                <a16:creationId xmlns:a16="http://schemas.microsoft.com/office/drawing/2014/main" id="{D932F89D-251E-9151-0B38-B56A5794957A}"/>
              </a:ext>
            </a:extLst>
          </p:cNvPr>
          <p:cNvPicPr>
            <a:picLocks noChangeAspect="1"/>
          </p:cNvPicPr>
          <p:nvPr/>
        </p:nvPicPr>
        <p:blipFill>
          <a:blip r:embed="rId2"/>
          <a:stretch>
            <a:fillRect/>
          </a:stretch>
        </p:blipFill>
        <p:spPr>
          <a:xfrm>
            <a:off x="6497784" y="1600200"/>
            <a:ext cx="5462384" cy="4636537"/>
          </a:xfrm>
          <a:prstGeom prst="rect">
            <a:avLst/>
          </a:prstGeom>
        </p:spPr>
      </p:pic>
    </p:spTree>
    <p:extLst>
      <p:ext uri="{BB962C8B-B14F-4D97-AF65-F5344CB8AC3E}">
        <p14:creationId xmlns:p14="http://schemas.microsoft.com/office/powerpoint/2010/main" val="1191071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Deleting a Stored Procedure</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14</a:t>
            </a:fld>
            <a:endParaRPr lang="en-IN"/>
          </a:p>
        </p:txBody>
      </p:sp>
    </p:spTree>
    <p:extLst>
      <p:ext uri="{BB962C8B-B14F-4D97-AF65-F5344CB8AC3E}">
        <p14:creationId xmlns:p14="http://schemas.microsoft.com/office/powerpoint/2010/main" val="6431641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15</a:t>
            </a:fld>
            <a:endParaRPr lang="en-IN"/>
          </a:p>
        </p:txBody>
      </p:sp>
      <p:sp>
        <p:nvSpPr>
          <p:cNvPr id="2" name="Rectangle 1">
            <a:extLst>
              <a:ext uri="{FF2B5EF4-FFF2-40B4-BE49-F238E27FC236}">
                <a16:creationId xmlns:a16="http://schemas.microsoft.com/office/drawing/2014/main" id="{61F3F754-9357-FD18-7A88-50F54E7E6B87}"/>
              </a:ext>
            </a:extLst>
          </p:cNvPr>
          <p:cNvSpPr/>
          <p:nvPr/>
        </p:nvSpPr>
        <p:spPr>
          <a:xfrm>
            <a:off x="1219200" y="107423"/>
            <a:ext cx="10744200" cy="154734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lnSpc>
                <a:spcPct val="150000"/>
              </a:lnSpc>
              <a:buFont typeface="Arial" panose="020B0604020202020204" pitchFamily="34" charset="0"/>
              <a:buChar char="•"/>
            </a:pPr>
            <a:r>
              <a:rPr lang="en-IN" sz="2200" b="1" dirty="0">
                <a:latin typeface="Verdana" panose="020B0604030504040204" pitchFamily="34" charset="0"/>
                <a:ea typeface="Verdana" panose="020B0604030504040204" pitchFamily="34" charset="0"/>
              </a:rPr>
              <a:t>Deleting a stored procedure:</a:t>
            </a:r>
          </a:p>
          <a:p>
            <a:pPr>
              <a:lnSpc>
                <a:spcPct val="150000"/>
              </a:lnSpc>
            </a:pPr>
            <a:r>
              <a:rPr lang="en-US" sz="2200" dirty="0">
                <a:latin typeface="Verdana" panose="020B0604030504040204" pitchFamily="34" charset="0"/>
                <a:ea typeface="Verdana" panose="020B0604030504040204" pitchFamily="34" charset="0"/>
              </a:rPr>
              <a:t>To delete a stored procedure, you use the DROP PROCEDURE or DROP PROC statement</a:t>
            </a:r>
            <a:endParaRPr lang="en-IN" sz="2200" b="1" dirty="0">
              <a:latin typeface="Verdana" panose="020B0604030504040204" pitchFamily="34" charset="0"/>
              <a:ea typeface="Verdana" panose="020B0604030504040204" pitchFamily="34" charset="0"/>
            </a:endParaRPr>
          </a:p>
        </p:txBody>
      </p:sp>
      <p:pic>
        <p:nvPicPr>
          <p:cNvPr id="3" name="table">
            <a:extLst>
              <a:ext uri="{FF2B5EF4-FFF2-40B4-BE49-F238E27FC236}">
                <a16:creationId xmlns:a16="http://schemas.microsoft.com/office/drawing/2014/main" id="{28C20CF2-01F7-9226-E8C0-426BAB927328}"/>
              </a:ext>
            </a:extLst>
          </p:cNvPr>
          <p:cNvPicPr>
            <a:picLocks noChangeAspect="1"/>
          </p:cNvPicPr>
          <p:nvPr/>
        </p:nvPicPr>
        <p:blipFill>
          <a:blip r:embed="rId2"/>
          <a:stretch>
            <a:fillRect/>
          </a:stretch>
        </p:blipFill>
        <p:spPr>
          <a:xfrm>
            <a:off x="1190946" y="1981200"/>
            <a:ext cx="8839200" cy="521732"/>
          </a:xfrm>
          <a:prstGeom prst="rect">
            <a:avLst/>
          </a:prstGeom>
          <a:ln>
            <a:solidFill>
              <a:srgbClr val="C00000"/>
            </a:solidFill>
          </a:ln>
        </p:spPr>
      </p:pic>
      <p:sp>
        <p:nvSpPr>
          <p:cNvPr id="9" name="TextBox 8">
            <a:extLst>
              <a:ext uri="{FF2B5EF4-FFF2-40B4-BE49-F238E27FC236}">
                <a16:creationId xmlns:a16="http://schemas.microsoft.com/office/drawing/2014/main" id="{3842ED85-986E-ADFB-1A40-CB8688469CB5}"/>
              </a:ext>
            </a:extLst>
          </p:cNvPr>
          <p:cNvSpPr txBox="1"/>
          <p:nvPr/>
        </p:nvSpPr>
        <p:spPr>
          <a:xfrm>
            <a:off x="1196939" y="2865322"/>
            <a:ext cx="6097712" cy="338554"/>
          </a:xfrm>
          <a:prstGeom prst="rect">
            <a:avLst/>
          </a:prstGeom>
          <a:noFill/>
          <a:ln>
            <a:solidFill>
              <a:srgbClr val="2D73BA"/>
            </a:solidFill>
          </a:ln>
        </p:spPr>
        <p:txBody>
          <a:bodyPr wrap="square">
            <a:spAutoFit/>
          </a:bodyPr>
          <a:lstStyle/>
          <a:p>
            <a:r>
              <a:rPr lang="en-IN" sz="1600">
                <a:latin typeface="Verdana" panose="020B0604030504040204" pitchFamily="34" charset="0"/>
                <a:ea typeface="Verdana" panose="020B0604030504040204" pitchFamily="34" charset="0"/>
              </a:rPr>
              <a:t>DROP PROCEDURE uspProductList;</a:t>
            </a:r>
          </a:p>
        </p:txBody>
      </p:sp>
    </p:spTree>
    <p:extLst>
      <p:ext uri="{BB962C8B-B14F-4D97-AF65-F5344CB8AC3E}">
        <p14:creationId xmlns:p14="http://schemas.microsoft.com/office/powerpoint/2010/main" val="3567453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Parameterized Stored Procedure</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16</a:t>
            </a:fld>
            <a:endParaRPr lang="en-IN"/>
          </a:p>
        </p:txBody>
      </p:sp>
    </p:spTree>
    <p:extLst>
      <p:ext uri="{BB962C8B-B14F-4D97-AF65-F5344CB8AC3E}">
        <p14:creationId xmlns:p14="http://schemas.microsoft.com/office/powerpoint/2010/main" val="1833855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17</a:t>
            </a:fld>
            <a:endParaRPr lang="en-IN"/>
          </a:p>
        </p:txBody>
      </p:sp>
      <p:sp>
        <p:nvSpPr>
          <p:cNvPr id="4" name="Rectangle 3">
            <a:extLst>
              <a:ext uri="{FF2B5EF4-FFF2-40B4-BE49-F238E27FC236}">
                <a16:creationId xmlns:a16="http://schemas.microsoft.com/office/drawing/2014/main" id="{3ECCCB70-3885-F392-EFD2-460840D3B63F}"/>
              </a:ext>
            </a:extLst>
          </p:cNvPr>
          <p:cNvSpPr/>
          <p:nvPr/>
        </p:nvSpPr>
        <p:spPr>
          <a:xfrm>
            <a:off x="1455362" y="192858"/>
            <a:ext cx="8610600" cy="43088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US" sz="2200" b="1" dirty="0">
                <a:latin typeface="Verdana" panose="020B0604030504040204" pitchFamily="34" charset="0"/>
                <a:ea typeface="Verdana" panose="020B0604030504040204" pitchFamily="34" charset="0"/>
              </a:rPr>
              <a:t>Creating a stored procedure with one parameter</a:t>
            </a:r>
          </a:p>
        </p:txBody>
      </p:sp>
      <p:sp>
        <p:nvSpPr>
          <p:cNvPr id="9" name="TextBox 8">
            <a:extLst>
              <a:ext uri="{FF2B5EF4-FFF2-40B4-BE49-F238E27FC236}">
                <a16:creationId xmlns:a16="http://schemas.microsoft.com/office/drawing/2014/main" id="{A91EBAB1-CB53-10D8-9D1C-73582E3B6CB7}"/>
              </a:ext>
            </a:extLst>
          </p:cNvPr>
          <p:cNvSpPr txBox="1"/>
          <p:nvPr/>
        </p:nvSpPr>
        <p:spPr>
          <a:xfrm>
            <a:off x="449580" y="1186329"/>
            <a:ext cx="7391400" cy="3293209"/>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CREATE PROCEDURE uspFindProducts(@min_list_price AS DECIMAL)</a:t>
            </a:r>
          </a:p>
          <a:p>
            <a:r>
              <a:rPr lang="en-US" sz="1600">
                <a:latin typeface="Verdana" panose="020B0604030504040204" pitchFamily="34" charset="0"/>
                <a:ea typeface="Verdana" panose="020B0604030504040204" pitchFamily="34" charset="0"/>
              </a:rPr>
              <a:t>AS</a:t>
            </a:r>
          </a:p>
          <a:p>
            <a:r>
              <a:rPr lang="en-US" sz="1600">
                <a:latin typeface="Verdana" panose="020B0604030504040204" pitchFamily="34" charset="0"/>
                <a:ea typeface="Verdana" panose="020B0604030504040204" pitchFamily="34" charset="0"/>
              </a:rPr>
              <a:t>BEGIN</a:t>
            </a:r>
          </a:p>
          <a:p>
            <a:r>
              <a:rPr lang="en-US" sz="1600">
                <a:latin typeface="Verdana" panose="020B0604030504040204" pitchFamily="34" charset="0"/>
                <a:ea typeface="Verdana" panose="020B0604030504040204" pitchFamily="34" charset="0"/>
              </a:rPr>
              <a:t>    SELECT</a:t>
            </a:r>
          </a:p>
          <a:p>
            <a:r>
              <a:rPr lang="en-US" sz="1600">
                <a:latin typeface="Verdana" panose="020B0604030504040204" pitchFamily="34" charset="0"/>
                <a:ea typeface="Verdana" panose="020B0604030504040204" pitchFamily="34" charset="0"/>
              </a:rPr>
              <a:t>        product_name,</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    FROM </a:t>
            </a:r>
          </a:p>
          <a:p>
            <a:r>
              <a:rPr lang="en-US" sz="1600">
                <a:latin typeface="Verdana" panose="020B0604030504040204" pitchFamily="34" charset="0"/>
                <a:ea typeface="Verdana" panose="020B0604030504040204" pitchFamily="34" charset="0"/>
              </a:rPr>
              <a:t>        products</a:t>
            </a:r>
          </a:p>
          <a:p>
            <a:r>
              <a:rPr lang="en-US" sz="1600">
                <a:latin typeface="Verdana" panose="020B0604030504040204" pitchFamily="34" charset="0"/>
                <a:ea typeface="Verdana" panose="020B0604030504040204" pitchFamily="34" charset="0"/>
              </a:rPr>
              <a:t>    WHERE</a:t>
            </a:r>
          </a:p>
          <a:p>
            <a:r>
              <a:rPr lang="en-US" sz="1600">
                <a:latin typeface="Verdana" panose="020B0604030504040204" pitchFamily="34" charset="0"/>
                <a:ea typeface="Verdana" panose="020B0604030504040204" pitchFamily="34" charset="0"/>
              </a:rPr>
              <a:t>        list_price &gt;= @min_list_price</a:t>
            </a:r>
          </a:p>
          <a:p>
            <a:r>
              <a:rPr lang="en-US" sz="1600">
                <a:latin typeface="Verdana" panose="020B0604030504040204" pitchFamily="34" charset="0"/>
                <a:ea typeface="Verdana" panose="020B0604030504040204" pitchFamily="34" charset="0"/>
              </a:rPr>
              <a:t>    ORDER BY</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END;</a:t>
            </a:r>
          </a:p>
        </p:txBody>
      </p:sp>
      <p:sp>
        <p:nvSpPr>
          <p:cNvPr id="11" name="TextBox 10">
            <a:extLst>
              <a:ext uri="{FF2B5EF4-FFF2-40B4-BE49-F238E27FC236}">
                <a16:creationId xmlns:a16="http://schemas.microsoft.com/office/drawing/2014/main" id="{E6865546-BE6A-A5AA-FAA0-5B4AAF1DE06F}"/>
              </a:ext>
            </a:extLst>
          </p:cNvPr>
          <p:cNvSpPr txBox="1"/>
          <p:nvPr/>
        </p:nvSpPr>
        <p:spPr>
          <a:xfrm>
            <a:off x="518331" y="4821841"/>
            <a:ext cx="7528389" cy="400110"/>
          </a:xfrm>
          <a:prstGeom prst="rect">
            <a:avLst/>
          </a:prstGeom>
          <a:noFill/>
          <a:ln>
            <a:solidFill>
              <a:srgbClr val="2D73BA"/>
            </a:solidFill>
          </a:ln>
        </p:spPr>
        <p:txBody>
          <a:bodyPr wrap="square">
            <a:spAutoFit/>
          </a:bodyPr>
          <a:lstStyle/>
          <a:p>
            <a:pPr marL="342900" indent="-342900">
              <a:buFont typeface="Arial" panose="020B0604020202020204" pitchFamily="34" charset="0"/>
              <a:buChar char="•"/>
            </a:pPr>
            <a:r>
              <a:rPr lang="en-US" sz="2000" b="1">
                <a:latin typeface="Verdana" panose="020B0604030504040204" pitchFamily="34" charset="0"/>
                <a:ea typeface="Verdana" panose="020B0604030504040204" pitchFamily="34" charset="0"/>
              </a:rPr>
              <a:t>Executing a stored procedure with one param.</a:t>
            </a:r>
            <a:endParaRPr lang="en-IN" sz="2000" b="1">
              <a:latin typeface="Verdana" panose="020B0604030504040204" pitchFamily="34" charset="0"/>
              <a:ea typeface="Verdana" panose="020B0604030504040204" pitchFamily="34" charset="0"/>
            </a:endParaRPr>
          </a:p>
        </p:txBody>
      </p:sp>
      <p:sp>
        <p:nvSpPr>
          <p:cNvPr id="13" name="TextBox 12">
            <a:extLst>
              <a:ext uri="{FF2B5EF4-FFF2-40B4-BE49-F238E27FC236}">
                <a16:creationId xmlns:a16="http://schemas.microsoft.com/office/drawing/2014/main" id="{601089CD-2FC3-22C9-C675-5FD5A7D583E4}"/>
              </a:ext>
            </a:extLst>
          </p:cNvPr>
          <p:cNvSpPr txBox="1"/>
          <p:nvPr/>
        </p:nvSpPr>
        <p:spPr>
          <a:xfrm>
            <a:off x="518331" y="5502394"/>
            <a:ext cx="6097712" cy="338554"/>
          </a:xfrm>
          <a:prstGeom prst="rect">
            <a:avLst/>
          </a:prstGeom>
          <a:noFill/>
          <a:ln>
            <a:solidFill>
              <a:srgbClr val="2D73BA"/>
            </a:solidFill>
          </a:ln>
        </p:spPr>
        <p:txBody>
          <a:bodyPr wrap="square">
            <a:spAutoFit/>
          </a:bodyPr>
          <a:lstStyle/>
          <a:p>
            <a:r>
              <a:rPr lang="en-IN" sz="1600">
                <a:latin typeface="Verdana" panose="020B0604030504040204" pitchFamily="34" charset="0"/>
                <a:ea typeface="Verdana" panose="020B0604030504040204" pitchFamily="34" charset="0"/>
              </a:rPr>
              <a:t>EXEC uspFindProducts 100;</a:t>
            </a:r>
          </a:p>
        </p:txBody>
      </p:sp>
      <p:pic>
        <p:nvPicPr>
          <p:cNvPr id="8" name="Picture 7">
            <a:extLst>
              <a:ext uri="{FF2B5EF4-FFF2-40B4-BE49-F238E27FC236}">
                <a16:creationId xmlns:a16="http://schemas.microsoft.com/office/drawing/2014/main" id="{CA41229A-1D60-D19E-E893-CF5A2C31ACE9}"/>
              </a:ext>
            </a:extLst>
          </p:cNvPr>
          <p:cNvPicPr>
            <a:picLocks noChangeAspect="1"/>
          </p:cNvPicPr>
          <p:nvPr/>
        </p:nvPicPr>
        <p:blipFill>
          <a:blip r:embed="rId2"/>
          <a:stretch>
            <a:fillRect/>
          </a:stretch>
        </p:blipFill>
        <p:spPr>
          <a:xfrm>
            <a:off x="8298122" y="958384"/>
            <a:ext cx="3535680" cy="5419556"/>
          </a:xfrm>
          <a:prstGeom prst="rect">
            <a:avLst/>
          </a:prstGeom>
        </p:spPr>
      </p:pic>
    </p:spTree>
    <p:extLst>
      <p:ext uri="{BB962C8B-B14F-4D97-AF65-F5344CB8AC3E}">
        <p14:creationId xmlns:p14="http://schemas.microsoft.com/office/powerpoint/2010/main" val="1534771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18</a:t>
            </a:fld>
            <a:endParaRPr lang="en-IN"/>
          </a:p>
        </p:txBody>
      </p:sp>
      <p:sp>
        <p:nvSpPr>
          <p:cNvPr id="9" name="TextBox 8">
            <a:extLst>
              <a:ext uri="{FF2B5EF4-FFF2-40B4-BE49-F238E27FC236}">
                <a16:creationId xmlns:a16="http://schemas.microsoft.com/office/drawing/2014/main" id="{D43AE91C-6892-0C49-77FD-AA1BB42A20CF}"/>
              </a:ext>
            </a:extLst>
          </p:cNvPr>
          <p:cNvSpPr txBox="1"/>
          <p:nvPr/>
        </p:nvSpPr>
        <p:spPr>
          <a:xfrm>
            <a:off x="1219200" y="78483"/>
            <a:ext cx="10172700" cy="531684"/>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200" b="1">
                <a:latin typeface="Verdana" panose="020B0604030504040204" pitchFamily="34" charset="0"/>
                <a:ea typeface="Verdana" panose="020B0604030504040204" pitchFamily="34" charset="0"/>
              </a:rPr>
              <a:t>Creating a stored procedure with multiple parameters.</a:t>
            </a:r>
            <a:endParaRPr lang="en-US" sz="2200" b="1" dirty="0">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BC9A9A36-D921-5D1B-CED0-D737080534FD}"/>
              </a:ext>
            </a:extLst>
          </p:cNvPr>
          <p:cNvSpPr txBox="1"/>
          <p:nvPr/>
        </p:nvSpPr>
        <p:spPr>
          <a:xfrm>
            <a:off x="304800" y="861923"/>
            <a:ext cx="5600486" cy="4524315"/>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ALTER PROCEDURE uspFindProducts(</a:t>
            </a:r>
          </a:p>
          <a:p>
            <a:r>
              <a:rPr lang="en-US" sz="1600">
                <a:latin typeface="Verdana" panose="020B0604030504040204" pitchFamily="34" charset="0"/>
                <a:ea typeface="Verdana" panose="020B0604030504040204" pitchFamily="34" charset="0"/>
              </a:rPr>
              <a:t>    @min_list_price AS DECIMAL</a:t>
            </a:r>
          </a:p>
          <a:p>
            <a:r>
              <a:rPr lang="en-US" sz="1600">
                <a:latin typeface="Verdana" panose="020B0604030504040204" pitchFamily="34" charset="0"/>
                <a:ea typeface="Verdana" panose="020B0604030504040204" pitchFamily="34" charset="0"/>
              </a:rPr>
              <a:t>    ,@max_list_price AS DECIMAL</a:t>
            </a:r>
          </a:p>
          <a:p>
            <a:r>
              <a:rPr lang="en-US" sz="1600">
                <a:latin typeface="Verdana" panose="020B0604030504040204" pitchFamily="34" charset="0"/>
                <a:ea typeface="Verdana" panose="020B0604030504040204" pitchFamily="34" charset="0"/>
              </a:rPr>
              <a:t>)</a:t>
            </a:r>
          </a:p>
          <a:p>
            <a:r>
              <a:rPr lang="en-US" sz="1600">
                <a:latin typeface="Verdana" panose="020B0604030504040204" pitchFamily="34" charset="0"/>
                <a:ea typeface="Verdana" panose="020B0604030504040204" pitchFamily="34" charset="0"/>
              </a:rPr>
              <a:t>AS</a:t>
            </a:r>
          </a:p>
          <a:p>
            <a:r>
              <a:rPr lang="en-US" sz="1600">
                <a:latin typeface="Verdana" panose="020B0604030504040204" pitchFamily="34" charset="0"/>
                <a:ea typeface="Verdana" panose="020B0604030504040204" pitchFamily="34" charset="0"/>
              </a:rPr>
              <a:t>BEGIN</a:t>
            </a:r>
          </a:p>
          <a:p>
            <a:r>
              <a:rPr lang="en-US" sz="1600">
                <a:latin typeface="Verdana" panose="020B0604030504040204" pitchFamily="34" charset="0"/>
                <a:ea typeface="Verdana" panose="020B0604030504040204" pitchFamily="34" charset="0"/>
              </a:rPr>
              <a:t>    SELECT</a:t>
            </a:r>
          </a:p>
          <a:p>
            <a:r>
              <a:rPr lang="en-US" sz="1600">
                <a:latin typeface="Verdana" panose="020B0604030504040204" pitchFamily="34" charset="0"/>
                <a:ea typeface="Verdana" panose="020B0604030504040204" pitchFamily="34" charset="0"/>
              </a:rPr>
              <a:t>        product_id,</a:t>
            </a:r>
          </a:p>
          <a:p>
            <a:r>
              <a:rPr lang="en-US" sz="1600">
                <a:latin typeface="Verdana" panose="020B0604030504040204" pitchFamily="34" charset="0"/>
                <a:ea typeface="Verdana" panose="020B0604030504040204" pitchFamily="34" charset="0"/>
              </a:rPr>
              <a:t>        product_name,</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    FROM </a:t>
            </a:r>
          </a:p>
          <a:p>
            <a:r>
              <a:rPr lang="en-US" sz="1600">
                <a:latin typeface="Verdana" panose="020B0604030504040204" pitchFamily="34" charset="0"/>
                <a:ea typeface="Verdana" panose="020B0604030504040204" pitchFamily="34" charset="0"/>
              </a:rPr>
              <a:t>        products</a:t>
            </a:r>
          </a:p>
          <a:p>
            <a:r>
              <a:rPr lang="en-US" sz="1600">
                <a:latin typeface="Verdana" panose="020B0604030504040204" pitchFamily="34" charset="0"/>
                <a:ea typeface="Verdana" panose="020B0604030504040204" pitchFamily="34" charset="0"/>
              </a:rPr>
              <a:t>    WHERE</a:t>
            </a:r>
          </a:p>
          <a:p>
            <a:r>
              <a:rPr lang="en-US" sz="1600">
                <a:latin typeface="Verdana" panose="020B0604030504040204" pitchFamily="34" charset="0"/>
                <a:ea typeface="Verdana" panose="020B0604030504040204" pitchFamily="34" charset="0"/>
              </a:rPr>
              <a:t>        list_price &gt;= @min_list_price AND</a:t>
            </a:r>
          </a:p>
          <a:p>
            <a:r>
              <a:rPr lang="en-US" sz="1600">
                <a:latin typeface="Verdana" panose="020B0604030504040204" pitchFamily="34" charset="0"/>
                <a:ea typeface="Verdana" panose="020B0604030504040204" pitchFamily="34" charset="0"/>
              </a:rPr>
              <a:t>        list_price &lt;= @max_list_price</a:t>
            </a:r>
          </a:p>
          <a:p>
            <a:r>
              <a:rPr lang="en-US" sz="1600">
                <a:latin typeface="Verdana" panose="020B0604030504040204" pitchFamily="34" charset="0"/>
                <a:ea typeface="Verdana" panose="020B0604030504040204" pitchFamily="34" charset="0"/>
              </a:rPr>
              <a:t>    ORDER BY</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END;</a:t>
            </a:r>
          </a:p>
        </p:txBody>
      </p:sp>
      <p:sp>
        <p:nvSpPr>
          <p:cNvPr id="12" name="TextBox 11">
            <a:extLst>
              <a:ext uri="{FF2B5EF4-FFF2-40B4-BE49-F238E27FC236}">
                <a16:creationId xmlns:a16="http://schemas.microsoft.com/office/drawing/2014/main" id="{83ACAA8D-0E9B-8928-164D-620CC1D00875}"/>
              </a:ext>
            </a:extLst>
          </p:cNvPr>
          <p:cNvSpPr txBox="1"/>
          <p:nvPr/>
        </p:nvSpPr>
        <p:spPr>
          <a:xfrm>
            <a:off x="304800" y="5456428"/>
            <a:ext cx="10448818" cy="400110"/>
          </a:xfrm>
          <a:prstGeom prst="rect">
            <a:avLst/>
          </a:prstGeom>
          <a:noFill/>
          <a:ln>
            <a:solidFill>
              <a:srgbClr val="2D73BA"/>
            </a:solidFill>
          </a:ln>
        </p:spPr>
        <p:txBody>
          <a:bodyPr wrap="square">
            <a:spAutoFit/>
          </a:bodyPr>
          <a:lstStyle/>
          <a:p>
            <a:pPr marL="342900" indent="-342900">
              <a:buFont typeface="Arial" panose="020B0604020202020204" pitchFamily="34" charset="0"/>
              <a:buChar char="•"/>
            </a:pPr>
            <a:r>
              <a:rPr lang="en-US" sz="2000" b="1">
                <a:latin typeface="Verdana" panose="020B0604030504040204" pitchFamily="34" charset="0"/>
                <a:ea typeface="Verdana" panose="020B0604030504040204" pitchFamily="34" charset="0"/>
              </a:rPr>
              <a:t>Executing a stored procedure with multiple parameters.</a:t>
            </a:r>
            <a:endParaRPr lang="en-IN" sz="2000" b="1">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D7EABDB7-E80A-F498-6B03-EB92EFA4253D}"/>
              </a:ext>
            </a:extLst>
          </p:cNvPr>
          <p:cNvSpPr txBox="1"/>
          <p:nvPr/>
        </p:nvSpPr>
        <p:spPr>
          <a:xfrm>
            <a:off x="364904" y="6039386"/>
            <a:ext cx="6097712" cy="338554"/>
          </a:xfrm>
          <a:prstGeom prst="rect">
            <a:avLst/>
          </a:prstGeom>
          <a:noFill/>
          <a:ln>
            <a:solidFill>
              <a:srgbClr val="2D73BA"/>
            </a:solidFill>
          </a:ln>
        </p:spPr>
        <p:txBody>
          <a:bodyPr wrap="square">
            <a:spAutoFit/>
          </a:bodyPr>
          <a:lstStyle/>
          <a:p>
            <a:r>
              <a:rPr lang="en-IN" sz="1600">
                <a:latin typeface="Verdana" panose="020B0604030504040204" pitchFamily="34" charset="0"/>
                <a:ea typeface="Verdana" panose="020B0604030504040204" pitchFamily="34" charset="0"/>
              </a:rPr>
              <a:t>EXEC uspFindProducts 900, 1000;</a:t>
            </a:r>
          </a:p>
        </p:txBody>
      </p:sp>
      <p:pic>
        <p:nvPicPr>
          <p:cNvPr id="10" name="Picture 9">
            <a:extLst>
              <a:ext uri="{FF2B5EF4-FFF2-40B4-BE49-F238E27FC236}">
                <a16:creationId xmlns:a16="http://schemas.microsoft.com/office/drawing/2014/main" id="{39CE893D-A48D-B054-3E5F-90C3A7C67DCA}"/>
              </a:ext>
            </a:extLst>
          </p:cNvPr>
          <p:cNvPicPr>
            <a:picLocks noChangeAspect="1"/>
          </p:cNvPicPr>
          <p:nvPr/>
        </p:nvPicPr>
        <p:blipFill>
          <a:blip r:embed="rId2"/>
          <a:stretch>
            <a:fillRect/>
          </a:stretch>
        </p:blipFill>
        <p:spPr>
          <a:xfrm>
            <a:off x="6332948" y="1106770"/>
            <a:ext cx="5058952" cy="3836050"/>
          </a:xfrm>
          <a:prstGeom prst="rect">
            <a:avLst/>
          </a:prstGeom>
        </p:spPr>
      </p:pic>
    </p:spTree>
    <p:extLst>
      <p:ext uri="{BB962C8B-B14F-4D97-AF65-F5344CB8AC3E}">
        <p14:creationId xmlns:p14="http://schemas.microsoft.com/office/powerpoint/2010/main" val="3232990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19</a:t>
            </a:fld>
            <a:endParaRPr lang="en-IN"/>
          </a:p>
        </p:txBody>
      </p:sp>
      <p:sp>
        <p:nvSpPr>
          <p:cNvPr id="3" name="Rectangle 2">
            <a:extLst>
              <a:ext uri="{FF2B5EF4-FFF2-40B4-BE49-F238E27FC236}">
                <a16:creationId xmlns:a16="http://schemas.microsoft.com/office/drawing/2014/main" id="{60FDAC58-AD1E-1B6A-E5F6-848F7C0AA0F1}"/>
              </a:ext>
            </a:extLst>
          </p:cNvPr>
          <p:cNvSpPr/>
          <p:nvPr/>
        </p:nvSpPr>
        <p:spPr>
          <a:xfrm>
            <a:off x="1371600" y="165556"/>
            <a:ext cx="4935967" cy="430887"/>
          </a:xfrm>
          <a:prstGeom prst="rect">
            <a:avLst/>
          </a:prstGeom>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IN" sz="2200" b="1" dirty="0">
                <a:latin typeface="Verdana" panose="020B0604030504040204" pitchFamily="34" charset="0"/>
                <a:ea typeface="Verdana" panose="020B0604030504040204" pitchFamily="34" charset="0"/>
              </a:rPr>
              <a:t>Creating output parameters</a:t>
            </a:r>
          </a:p>
        </p:txBody>
      </p:sp>
      <p:pic>
        <p:nvPicPr>
          <p:cNvPr id="4" name="table">
            <a:extLst>
              <a:ext uri="{FF2B5EF4-FFF2-40B4-BE49-F238E27FC236}">
                <a16:creationId xmlns:a16="http://schemas.microsoft.com/office/drawing/2014/main" id="{DFB61FDE-C8CB-2E1E-1602-F8459D1914FC}"/>
              </a:ext>
            </a:extLst>
          </p:cNvPr>
          <p:cNvPicPr>
            <a:picLocks noChangeAspect="1"/>
          </p:cNvPicPr>
          <p:nvPr/>
        </p:nvPicPr>
        <p:blipFill>
          <a:blip r:embed="rId2"/>
          <a:stretch>
            <a:fillRect/>
          </a:stretch>
        </p:blipFill>
        <p:spPr>
          <a:xfrm>
            <a:off x="685800" y="833771"/>
            <a:ext cx="7533943" cy="400110"/>
          </a:xfrm>
          <a:prstGeom prst="rect">
            <a:avLst/>
          </a:prstGeom>
          <a:ln>
            <a:solidFill>
              <a:srgbClr val="C00000"/>
            </a:solidFill>
          </a:ln>
        </p:spPr>
      </p:pic>
      <p:sp>
        <p:nvSpPr>
          <p:cNvPr id="9" name="TextBox 8">
            <a:extLst>
              <a:ext uri="{FF2B5EF4-FFF2-40B4-BE49-F238E27FC236}">
                <a16:creationId xmlns:a16="http://schemas.microsoft.com/office/drawing/2014/main" id="{4F105B85-E7E2-E4DC-36E9-FCD3FD8774AA}"/>
              </a:ext>
            </a:extLst>
          </p:cNvPr>
          <p:cNvSpPr txBox="1"/>
          <p:nvPr/>
        </p:nvSpPr>
        <p:spPr>
          <a:xfrm>
            <a:off x="498297" y="1331051"/>
            <a:ext cx="5181600" cy="3785652"/>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CREATE PROCEDURE uspFindProductByModel (</a:t>
            </a:r>
          </a:p>
          <a:p>
            <a:r>
              <a:rPr lang="en-US" sz="1600">
                <a:latin typeface="Verdana" panose="020B0604030504040204" pitchFamily="34" charset="0"/>
                <a:ea typeface="Verdana" panose="020B0604030504040204" pitchFamily="34" charset="0"/>
              </a:rPr>
              <a:t>    @model_year SMALLINT,</a:t>
            </a:r>
          </a:p>
          <a:p>
            <a:r>
              <a:rPr lang="en-US" sz="1600">
                <a:latin typeface="Verdana" panose="020B0604030504040204" pitchFamily="34" charset="0"/>
                <a:ea typeface="Verdana" panose="020B0604030504040204" pitchFamily="34" charset="0"/>
              </a:rPr>
              <a:t>    @product_count INT OUTPUT</a:t>
            </a:r>
          </a:p>
          <a:p>
            <a:r>
              <a:rPr lang="en-US" sz="1600">
                <a:latin typeface="Verdana" panose="020B0604030504040204" pitchFamily="34" charset="0"/>
                <a:ea typeface="Verdana" panose="020B0604030504040204" pitchFamily="34" charset="0"/>
              </a:rPr>
              <a:t>) AS</a:t>
            </a:r>
          </a:p>
          <a:p>
            <a:r>
              <a:rPr lang="en-US" sz="1600">
                <a:latin typeface="Verdana" panose="020B0604030504040204" pitchFamily="34" charset="0"/>
                <a:ea typeface="Verdana" panose="020B0604030504040204" pitchFamily="34" charset="0"/>
              </a:rPr>
              <a:t>BEGIN</a:t>
            </a:r>
          </a:p>
          <a:p>
            <a:r>
              <a:rPr lang="en-US" sz="1600">
                <a:latin typeface="Verdana" panose="020B0604030504040204" pitchFamily="34" charset="0"/>
                <a:ea typeface="Verdana" panose="020B0604030504040204" pitchFamily="34" charset="0"/>
              </a:rPr>
              <a:t>    SELECT </a:t>
            </a:r>
          </a:p>
          <a:p>
            <a:r>
              <a:rPr lang="en-US" sz="1600">
                <a:latin typeface="Verdana" panose="020B0604030504040204" pitchFamily="34" charset="0"/>
                <a:ea typeface="Verdana" panose="020B0604030504040204" pitchFamily="34" charset="0"/>
              </a:rPr>
              <a:t>        product_name,</a:t>
            </a:r>
          </a:p>
          <a:p>
            <a:r>
              <a:rPr lang="en-US" sz="1600">
                <a:latin typeface="Verdana" panose="020B0604030504040204" pitchFamily="34" charset="0"/>
                <a:ea typeface="Verdana" panose="020B0604030504040204" pitchFamily="34" charset="0"/>
              </a:rPr>
              <a:t>        list_price</a:t>
            </a:r>
          </a:p>
          <a:p>
            <a:r>
              <a:rPr lang="en-US" sz="1600">
                <a:latin typeface="Verdana" panose="020B0604030504040204" pitchFamily="34" charset="0"/>
                <a:ea typeface="Verdana" panose="020B0604030504040204" pitchFamily="34" charset="0"/>
              </a:rPr>
              <a:t>    FROM</a:t>
            </a:r>
          </a:p>
          <a:p>
            <a:r>
              <a:rPr lang="en-US" sz="1600">
                <a:latin typeface="Verdana" panose="020B0604030504040204" pitchFamily="34" charset="0"/>
                <a:ea typeface="Verdana" panose="020B0604030504040204" pitchFamily="34" charset="0"/>
              </a:rPr>
              <a:t>        products</a:t>
            </a:r>
          </a:p>
          <a:p>
            <a:r>
              <a:rPr lang="en-US" sz="1600">
                <a:latin typeface="Verdana" panose="020B0604030504040204" pitchFamily="34" charset="0"/>
                <a:ea typeface="Verdana" panose="020B0604030504040204" pitchFamily="34" charset="0"/>
              </a:rPr>
              <a:t>    WHERE</a:t>
            </a:r>
          </a:p>
          <a:p>
            <a:r>
              <a:rPr lang="en-US" sz="1600">
                <a:latin typeface="Verdana" panose="020B0604030504040204" pitchFamily="34" charset="0"/>
                <a:ea typeface="Verdana" panose="020B0604030504040204" pitchFamily="34" charset="0"/>
              </a:rPr>
              <a:t>        model_year = @model_year;</a:t>
            </a:r>
          </a:p>
          <a:p>
            <a:endParaRPr lang="en-US" sz="1600">
              <a:latin typeface="Verdana" panose="020B0604030504040204" pitchFamily="34" charset="0"/>
              <a:ea typeface="Verdana" panose="020B0604030504040204" pitchFamily="34" charset="0"/>
            </a:endParaRPr>
          </a:p>
          <a:p>
            <a:r>
              <a:rPr lang="en-US" sz="1600">
                <a:latin typeface="Verdana" panose="020B0604030504040204" pitchFamily="34" charset="0"/>
                <a:ea typeface="Verdana" panose="020B0604030504040204" pitchFamily="34" charset="0"/>
              </a:rPr>
              <a:t>    SELECT @product_count = @@ROWCOUNT;</a:t>
            </a:r>
          </a:p>
          <a:p>
            <a:r>
              <a:rPr lang="en-US" sz="1600">
                <a:latin typeface="Verdana" panose="020B0604030504040204" pitchFamily="34" charset="0"/>
                <a:ea typeface="Verdana" panose="020B0604030504040204" pitchFamily="34" charset="0"/>
              </a:rPr>
              <a:t>END;</a:t>
            </a:r>
          </a:p>
        </p:txBody>
      </p:sp>
      <p:sp>
        <p:nvSpPr>
          <p:cNvPr id="10" name="TextBox 9">
            <a:extLst>
              <a:ext uri="{FF2B5EF4-FFF2-40B4-BE49-F238E27FC236}">
                <a16:creationId xmlns:a16="http://schemas.microsoft.com/office/drawing/2014/main" id="{2B89A0EA-DFD4-F96F-A6EE-F25716DD574E}"/>
              </a:ext>
            </a:extLst>
          </p:cNvPr>
          <p:cNvSpPr txBox="1"/>
          <p:nvPr/>
        </p:nvSpPr>
        <p:spPr>
          <a:xfrm>
            <a:off x="5752672" y="1315693"/>
            <a:ext cx="6097712" cy="769441"/>
          </a:xfrm>
          <a:prstGeom prst="rect">
            <a:avLst/>
          </a:prstGeom>
          <a:noFill/>
          <a:ln>
            <a:solidFill>
              <a:srgbClr val="2D73BA"/>
            </a:solidFill>
          </a:ln>
        </p:spPr>
        <p:txBody>
          <a:bodyPr wrap="square">
            <a:spAutoFit/>
          </a:bodyPr>
          <a:lstStyle/>
          <a:p>
            <a:pPr marL="342900" indent="-342900">
              <a:buFont typeface="Arial" panose="020B0604020202020204" pitchFamily="34" charset="0"/>
              <a:buChar char="•"/>
            </a:pPr>
            <a:r>
              <a:rPr lang="en-US" sz="2200" b="1">
                <a:latin typeface="Verdana" panose="020B0604030504040204" pitchFamily="34" charset="0"/>
                <a:ea typeface="Verdana" panose="020B0604030504040204" pitchFamily="34" charset="0"/>
              </a:rPr>
              <a:t>Executing a stored procedure </a:t>
            </a:r>
          </a:p>
          <a:p>
            <a:r>
              <a:rPr lang="en-US" sz="2200" b="1">
                <a:latin typeface="Verdana" panose="020B0604030504040204" pitchFamily="34" charset="0"/>
                <a:ea typeface="Verdana" panose="020B0604030504040204" pitchFamily="34" charset="0"/>
              </a:rPr>
              <a:t>    with output parameter.</a:t>
            </a:r>
            <a:endParaRPr lang="en-IN" sz="2200" b="1">
              <a:latin typeface="Verdana" panose="020B0604030504040204" pitchFamily="34" charset="0"/>
              <a:ea typeface="Verdana" panose="020B0604030504040204" pitchFamily="34" charset="0"/>
            </a:endParaRPr>
          </a:p>
        </p:txBody>
      </p:sp>
      <p:sp>
        <p:nvSpPr>
          <p:cNvPr id="12" name="TextBox 11">
            <a:extLst>
              <a:ext uri="{FF2B5EF4-FFF2-40B4-BE49-F238E27FC236}">
                <a16:creationId xmlns:a16="http://schemas.microsoft.com/office/drawing/2014/main" id="{D192118D-96FC-F58F-5C5B-5E9294136E02}"/>
              </a:ext>
            </a:extLst>
          </p:cNvPr>
          <p:cNvSpPr txBox="1"/>
          <p:nvPr/>
        </p:nvSpPr>
        <p:spPr>
          <a:xfrm>
            <a:off x="5752672" y="2166946"/>
            <a:ext cx="6097712" cy="1815882"/>
          </a:xfrm>
          <a:prstGeom prst="rect">
            <a:avLst/>
          </a:prstGeom>
          <a:noFill/>
          <a:ln>
            <a:solidFill>
              <a:srgbClr val="2D73BA"/>
            </a:solidFill>
          </a:ln>
        </p:spPr>
        <p:txBody>
          <a:bodyPr wrap="square">
            <a:spAutoFit/>
          </a:bodyPr>
          <a:lstStyle/>
          <a:p>
            <a:r>
              <a:rPr lang="en-US" sz="1600">
                <a:latin typeface="Verdana" panose="020B0604030504040204" pitchFamily="34" charset="0"/>
                <a:ea typeface="Verdana" panose="020B0604030504040204" pitchFamily="34" charset="0"/>
              </a:rPr>
              <a:t>DECLARE @count INT;</a:t>
            </a:r>
          </a:p>
          <a:p>
            <a:endParaRPr lang="en-US" sz="1600">
              <a:latin typeface="Verdana" panose="020B0604030504040204" pitchFamily="34" charset="0"/>
              <a:ea typeface="Verdana" panose="020B0604030504040204" pitchFamily="34" charset="0"/>
            </a:endParaRPr>
          </a:p>
          <a:p>
            <a:r>
              <a:rPr lang="en-US" sz="1600">
                <a:latin typeface="Verdana" panose="020B0604030504040204" pitchFamily="34" charset="0"/>
                <a:ea typeface="Verdana" panose="020B0604030504040204" pitchFamily="34" charset="0"/>
              </a:rPr>
              <a:t>EXEC uspFindProductByModel</a:t>
            </a:r>
          </a:p>
          <a:p>
            <a:r>
              <a:rPr lang="en-US" sz="1600">
                <a:latin typeface="Verdana" panose="020B0604030504040204" pitchFamily="34" charset="0"/>
                <a:ea typeface="Verdana" panose="020B0604030504040204" pitchFamily="34" charset="0"/>
              </a:rPr>
              <a:t>    @model_year = 2018,</a:t>
            </a:r>
          </a:p>
          <a:p>
            <a:r>
              <a:rPr lang="en-US" sz="1600">
                <a:latin typeface="Verdana" panose="020B0604030504040204" pitchFamily="34" charset="0"/>
                <a:ea typeface="Verdana" panose="020B0604030504040204" pitchFamily="34" charset="0"/>
              </a:rPr>
              <a:t>    @product_count = @count OUTPUT;</a:t>
            </a:r>
          </a:p>
          <a:p>
            <a:endParaRPr lang="en-US" sz="1600">
              <a:latin typeface="Verdana" panose="020B0604030504040204" pitchFamily="34" charset="0"/>
              <a:ea typeface="Verdana" panose="020B0604030504040204" pitchFamily="34" charset="0"/>
            </a:endParaRPr>
          </a:p>
          <a:p>
            <a:r>
              <a:rPr lang="en-US" sz="1600">
                <a:latin typeface="Verdana" panose="020B0604030504040204" pitchFamily="34" charset="0"/>
                <a:ea typeface="Verdana" panose="020B0604030504040204" pitchFamily="34" charset="0"/>
              </a:rPr>
              <a:t>SELECT @count AS 'Number of products found';</a:t>
            </a:r>
            <a:endParaRPr lang="en-IN" sz="1600">
              <a:latin typeface="Verdana" panose="020B0604030504040204" pitchFamily="34" charset="0"/>
              <a:ea typeface="Verdana" panose="020B0604030504040204" pitchFamily="34" charset="0"/>
            </a:endParaRPr>
          </a:p>
        </p:txBody>
      </p:sp>
      <p:pic>
        <p:nvPicPr>
          <p:cNvPr id="11" name="Picture 10">
            <a:extLst>
              <a:ext uri="{FF2B5EF4-FFF2-40B4-BE49-F238E27FC236}">
                <a16:creationId xmlns:a16="http://schemas.microsoft.com/office/drawing/2014/main" id="{8EF65174-A81F-6B3A-64D9-E3C11C073235}"/>
              </a:ext>
            </a:extLst>
          </p:cNvPr>
          <p:cNvPicPr>
            <a:picLocks noChangeAspect="1"/>
          </p:cNvPicPr>
          <p:nvPr/>
        </p:nvPicPr>
        <p:blipFill>
          <a:blip r:embed="rId3"/>
          <a:stretch>
            <a:fillRect/>
          </a:stretch>
        </p:blipFill>
        <p:spPr>
          <a:xfrm>
            <a:off x="7924800" y="4064640"/>
            <a:ext cx="2743200" cy="2625297"/>
          </a:xfrm>
          <a:prstGeom prst="rect">
            <a:avLst/>
          </a:prstGeom>
        </p:spPr>
      </p:pic>
    </p:spTree>
    <p:extLst>
      <p:ext uri="{BB962C8B-B14F-4D97-AF65-F5344CB8AC3E}">
        <p14:creationId xmlns:p14="http://schemas.microsoft.com/office/powerpoint/2010/main" val="3505066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F9D8BCF-2369-47E9-B871-0D9E54413D6F}"/>
              </a:ext>
            </a:extLst>
          </p:cNvPr>
          <p:cNvSpPr>
            <a:spLocks noGrp="1"/>
          </p:cNvSpPr>
          <p:nvPr>
            <p:ph type="title"/>
          </p:nvPr>
        </p:nvSpPr>
        <p:spPr>
          <a:xfrm>
            <a:off x="838200" y="2845713"/>
            <a:ext cx="10591800" cy="492443"/>
          </a:xfrm>
        </p:spPr>
        <p:txBody>
          <a:bodyPr/>
          <a:lstStyle/>
          <a:p>
            <a:r>
              <a:rPr lang="en-US" sz="3200">
                <a:solidFill>
                  <a:srgbClr val="2D73BA"/>
                </a:solidFill>
              </a:rPr>
              <a:t>Exception Handling</a:t>
            </a:r>
            <a:endParaRPr lang="en-IN" sz="2800" dirty="0">
              <a:solidFill>
                <a:srgbClr val="2D73BA"/>
              </a:solidFill>
              <a:latin typeface="Segoe UI" panose="020B0502040204020203" pitchFamily="34" charset="0"/>
              <a:cs typeface="Segoe UI" panose="020B0502040204020203" pitchFamily="34" charset="0"/>
            </a:endParaRPr>
          </a:p>
        </p:txBody>
      </p:sp>
      <p:sp>
        <p:nvSpPr>
          <p:cNvPr id="6" name="Footer Placeholder 5">
            <a:extLst>
              <a:ext uri="{FF2B5EF4-FFF2-40B4-BE49-F238E27FC236}">
                <a16:creationId xmlns:a16="http://schemas.microsoft.com/office/drawing/2014/main" id="{AAAF1551-B901-41A6-BE8B-FC11CFBEEEA1}"/>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7" name="Slide Number Placeholder 6">
            <a:extLst>
              <a:ext uri="{FF2B5EF4-FFF2-40B4-BE49-F238E27FC236}">
                <a16:creationId xmlns:a16="http://schemas.microsoft.com/office/drawing/2014/main" id="{8A0AD233-6021-4F23-92DE-ABD6BADE6304}"/>
              </a:ext>
            </a:extLst>
          </p:cNvPr>
          <p:cNvSpPr>
            <a:spLocks noGrp="1"/>
          </p:cNvSpPr>
          <p:nvPr>
            <p:ph type="sldNum" sz="quarter" idx="7"/>
          </p:nvPr>
        </p:nvSpPr>
        <p:spPr/>
        <p:txBody>
          <a:bodyPr/>
          <a:lstStyle/>
          <a:p>
            <a:fld id="{B6F15528-21DE-4FAA-801E-634DDDAF4B2B}" type="slidenum">
              <a:rPr lang="en-IN" smtClean="0"/>
              <a:t>20</a:t>
            </a:fld>
            <a:endParaRPr lang="en-IN"/>
          </a:p>
        </p:txBody>
      </p:sp>
    </p:spTree>
    <p:extLst>
      <p:ext uri="{BB962C8B-B14F-4D97-AF65-F5344CB8AC3E}">
        <p14:creationId xmlns:p14="http://schemas.microsoft.com/office/powerpoint/2010/main" val="655857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21</a:t>
            </a:fld>
            <a:endParaRPr lang="en-IN"/>
          </a:p>
        </p:txBody>
      </p:sp>
      <p:sp>
        <p:nvSpPr>
          <p:cNvPr id="3" name="Rectangle 2">
            <a:extLst>
              <a:ext uri="{FF2B5EF4-FFF2-40B4-BE49-F238E27FC236}">
                <a16:creationId xmlns:a16="http://schemas.microsoft.com/office/drawing/2014/main" id="{5B8EBFB5-D7C4-E272-7E7B-765D76293653}"/>
              </a:ext>
            </a:extLst>
          </p:cNvPr>
          <p:cNvSpPr/>
          <p:nvPr/>
        </p:nvSpPr>
        <p:spPr>
          <a:xfrm>
            <a:off x="1181100" y="228600"/>
            <a:ext cx="7924800" cy="43088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Handling Exceptions in Stored Procedure</a:t>
            </a:r>
            <a:endParaRPr lang="en-IN" sz="2200" b="1" dirty="0">
              <a:latin typeface="Verdana" panose="020B0604030504040204" pitchFamily="34" charset="0"/>
              <a:ea typeface="Verdana" panose="020B0604030504040204" pitchFamily="34" charset="0"/>
            </a:endParaRPr>
          </a:p>
        </p:txBody>
      </p:sp>
      <p:pic>
        <p:nvPicPr>
          <p:cNvPr id="4" name="table">
            <a:extLst>
              <a:ext uri="{FF2B5EF4-FFF2-40B4-BE49-F238E27FC236}">
                <a16:creationId xmlns:a16="http://schemas.microsoft.com/office/drawing/2014/main" id="{A7C9B838-0D7C-9E1A-FA08-78683FE9701A}"/>
              </a:ext>
            </a:extLst>
          </p:cNvPr>
          <p:cNvPicPr>
            <a:picLocks noChangeAspect="1"/>
          </p:cNvPicPr>
          <p:nvPr/>
        </p:nvPicPr>
        <p:blipFill>
          <a:blip r:embed="rId2"/>
          <a:stretch>
            <a:fillRect/>
          </a:stretch>
        </p:blipFill>
        <p:spPr>
          <a:xfrm>
            <a:off x="838200" y="1566973"/>
            <a:ext cx="8153400" cy="3724053"/>
          </a:xfrm>
          <a:prstGeom prst="rect">
            <a:avLst/>
          </a:prstGeom>
          <a:ln>
            <a:solidFill>
              <a:srgbClr val="C00000"/>
            </a:solidFill>
          </a:ln>
        </p:spPr>
      </p:pic>
    </p:spTree>
    <p:extLst>
      <p:ext uri="{BB962C8B-B14F-4D97-AF65-F5344CB8AC3E}">
        <p14:creationId xmlns:p14="http://schemas.microsoft.com/office/powerpoint/2010/main" val="2410860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22</a:t>
            </a:fld>
            <a:endParaRPr lang="en-IN"/>
          </a:p>
        </p:txBody>
      </p:sp>
      <p:sp>
        <p:nvSpPr>
          <p:cNvPr id="3" name="Rectangle 2">
            <a:extLst>
              <a:ext uri="{FF2B5EF4-FFF2-40B4-BE49-F238E27FC236}">
                <a16:creationId xmlns:a16="http://schemas.microsoft.com/office/drawing/2014/main" id="{5B8EBFB5-D7C4-E272-7E7B-765D76293653}"/>
              </a:ext>
            </a:extLst>
          </p:cNvPr>
          <p:cNvSpPr/>
          <p:nvPr/>
        </p:nvSpPr>
        <p:spPr>
          <a:xfrm>
            <a:off x="1219200" y="212309"/>
            <a:ext cx="7924800" cy="43088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The catch block functions.</a:t>
            </a:r>
            <a:endParaRPr lang="en-IN" sz="2200" b="1" dirty="0">
              <a:latin typeface="Verdana" panose="020B0604030504040204" pitchFamily="34" charset="0"/>
              <a:ea typeface="Verdana" panose="020B0604030504040204" pitchFamily="34" charset="0"/>
            </a:endParaRPr>
          </a:p>
        </p:txBody>
      </p:sp>
      <p:sp>
        <p:nvSpPr>
          <p:cNvPr id="5" name="TextBox 4">
            <a:extLst>
              <a:ext uri="{FF2B5EF4-FFF2-40B4-BE49-F238E27FC236}">
                <a16:creationId xmlns:a16="http://schemas.microsoft.com/office/drawing/2014/main" id="{F1A23709-6F55-2D06-A757-6EA8DCCE4034}"/>
              </a:ext>
            </a:extLst>
          </p:cNvPr>
          <p:cNvSpPr txBox="1"/>
          <p:nvPr/>
        </p:nvSpPr>
        <p:spPr>
          <a:xfrm>
            <a:off x="457200" y="990600"/>
            <a:ext cx="11353800" cy="4646721"/>
          </a:xfrm>
          <a:prstGeom prst="rect">
            <a:avLst/>
          </a:prstGeom>
          <a:noFill/>
        </p:spPr>
        <p:txBody>
          <a:bodyPr wrap="square">
            <a:spAutoFit/>
          </a:bodyPr>
          <a:lstStyle/>
          <a:p>
            <a:pPr>
              <a:lnSpc>
                <a:spcPct val="150000"/>
              </a:lnSpc>
            </a:pPr>
            <a:r>
              <a:rPr lang="en-US" sz="2000">
                <a:latin typeface="Verdana" panose="020B0604030504040204" pitchFamily="34" charset="0"/>
                <a:ea typeface="Verdana" panose="020B0604030504040204" pitchFamily="34" charset="0"/>
              </a:rPr>
              <a:t>Inside the CATCH block, you can use the following functions to get the detailed information on the error that occurred:</a:t>
            </a:r>
          </a:p>
          <a:p>
            <a:pPr>
              <a:lnSpc>
                <a:spcPct val="150000"/>
              </a:lnSpc>
            </a:pPr>
            <a:endParaRPr lang="en-US" sz="2000">
              <a:latin typeface="Verdana" panose="020B0604030504040204" pitchFamily="34" charset="0"/>
              <a:ea typeface="Verdana" panose="020B0604030504040204" pitchFamily="34" charset="0"/>
            </a:endParaRP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ERROR_LINE() </a:t>
            </a:r>
            <a:r>
              <a:rPr lang="en-US" sz="2000">
                <a:latin typeface="Verdana" panose="020B0604030504040204" pitchFamily="34" charset="0"/>
                <a:ea typeface="Verdana" panose="020B0604030504040204" pitchFamily="34" charset="0"/>
              </a:rPr>
              <a:t>returns the line number on which the exception occurred.</a:t>
            </a: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ERROR_MESSAGE() </a:t>
            </a:r>
            <a:r>
              <a:rPr lang="en-US" sz="2000">
                <a:latin typeface="Verdana" panose="020B0604030504040204" pitchFamily="34" charset="0"/>
                <a:ea typeface="Verdana" panose="020B0604030504040204" pitchFamily="34" charset="0"/>
              </a:rPr>
              <a:t>returns the complete text of the generated error message.</a:t>
            </a: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ERROR_PROCEDURE() </a:t>
            </a:r>
            <a:r>
              <a:rPr lang="en-US" sz="2000">
                <a:latin typeface="Verdana" panose="020B0604030504040204" pitchFamily="34" charset="0"/>
                <a:ea typeface="Verdana" panose="020B0604030504040204" pitchFamily="34" charset="0"/>
              </a:rPr>
              <a:t>returns the name of the stored procedure or trigger where the error occurred.</a:t>
            </a: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ERROR_NUMBER() </a:t>
            </a:r>
            <a:r>
              <a:rPr lang="en-US" sz="2000">
                <a:latin typeface="Verdana" panose="020B0604030504040204" pitchFamily="34" charset="0"/>
                <a:ea typeface="Verdana" panose="020B0604030504040204" pitchFamily="34" charset="0"/>
              </a:rPr>
              <a:t>returns the number of the error that occurred.</a:t>
            </a: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ERROR_SEVERITY() </a:t>
            </a:r>
            <a:r>
              <a:rPr lang="en-US" sz="2000">
                <a:latin typeface="Verdana" panose="020B0604030504040204" pitchFamily="34" charset="0"/>
                <a:ea typeface="Verdana" panose="020B0604030504040204" pitchFamily="34" charset="0"/>
              </a:rPr>
              <a:t>returns the severity level of the error that occurred.</a:t>
            </a:r>
          </a:p>
          <a:p>
            <a:pPr marL="342900" indent="-342900">
              <a:lnSpc>
                <a:spcPct val="150000"/>
              </a:lnSpc>
              <a:buFont typeface="Arial" panose="020B0604020202020204" pitchFamily="34" charset="0"/>
              <a:buChar char="•"/>
            </a:pPr>
            <a:r>
              <a:rPr lang="en-US" sz="2000" b="1">
                <a:latin typeface="Verdana" panose="020B0604030504040204" pitchFamily="34" charset="0"/>
                <a:ea typeface="Verdana" panose="020B0604030504040204" pitchFamily="34" charset="0"/>
              </a:rPr>
              <a:t>ERROR_STATE() </a:t>
            </a:r>
            <a:r>
              <a:rPr lang="en-US" sz="2000">
                <a:latin typeface="Verdana" panose="020B0604030504040204" pitchFamily="34" charset="0"/>
                <a:ea typeface="Verdana" panose="020B0604030504040204" pitchFamily="34" charset="0"/>
              </a:rPr>
              <a:t>returns the state number of the error that occurred.</a:t>
            </a:r>
            <a:endParaRPr lang="en-IN" sz="200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3783902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dirty="0"/>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23</a:t>
            </a:fld>
            <a:endParaRPr lang="en-IN"/>
          </a:p>
        </p:txBody>
      </p:sp>
      <p:sp>
        <p:nvSpPr>
          <p:cNvPr id="5" name="TextBox 4">
            <a:extLst>
              <a:ext uri="{FF2B5EF4-FFF2-40B4-BE49-F238E27FC236}">
                <a16:creationId xmlns:a16="http://schemas.microsoft.com/office/drawing/2014/main" id="{FA626E2C-B44D-6262-97B3-231AFEDFD126}"/>
              </a:ext>
            </a:extLst>
          </p:cNvPr>
          <p:cNvSpPr txBox="1"/>
          <p:nvPr/>
        </p:nvSpPr>
        <p:spPr>
          <a:xfrm>
            <a:off x="433398" y="1111346"/>
            <a:ext cx="10996602" cy="5016758"/>
          </a:xfrm>
          <a:prstGeom prst="rect">
            <a:avLst/>
          </a:prstGeom>
          <a:noFill/>
          <a:ln>
            <a:solidFill>
              <a:srgbClr val="2D73BA"/>
            </a:solidFill>
          </a:ln>
        </p:spPr>
        <p:txBody>
          <a:bodyPr wrap="square">
            <a:spAutoFit/>
          </a:bodyPr>
          <a:lstStyle/>
          <a:p>
            <a:r>
              <a:rPr lang="en-IN" sz="1600">
                <a:latin typeface="Verdana" panose="020B0604030504040204" pitchFamily="34" charset="0"/>
                <a:ea typeface="Verdana" panose="020B0604030504040204" pitchFamily="34" charset="0"/>
              </a:rPr>
              <a:t>CREATE PROC usp_divide(</a:t>
            </a:r>
          </a:p>
          <a:p>
            <a:r>
              <a:rPr lang="en-IN" sz="1600">
                <a:latin typeface="Verdana" panose="020B0604030504040204" pitchFamily="34" charset="0"/>
                <a:ea typeface="Verdana" panose="020B0604030504040204" pitchFamily="34" charset="0"/>
              </a:rPr>
              <a:t>    @a decimal,</a:t>
            </a:r>
          </a:p>
          <a:p>
            <a:r>
              <a:rPr lang="en-IN" sz="1600">
                <a:latin typeface="Verdana" panose="020B0604030504040204" pitchFamily="34" charset="0"/>
                <a:ea typeface="Verdana" panose="020B0604030504040204" pitchFamily="34" charset="0"/>
              </a:rPr>
              <a:t>    @b decimal,</a:t>
            </a:r>
          </a:p>
          <a:p>
            <a:r>
              <a:rPr lang="en-IN" sz="1600">
                <a:latin typeface="Verdana" panose="020B0604030504040204" pitchFamily="34" charset="0"/>
                <a:ea typeface="Verdana" panose="020B0604030504040204" pitchFamily="34" charset="0"/>
              </a:rPr>
              <a:t>    @c decimal output</a:t>
            </a:r>
          </a:p>
          <a:p>
            <a:r>
              <a:rPr lang="en-IN" sz="1600">
                <a:latin typeface="Verdana" panose="020B0604030504040204" pitchFamily="34" charset="0"/>
                <a:ea typeface="Verdana" panose="020B0604030504040204" pitchFamily="34" charset="0"/>
              </a:rPr>
              <a:t>) AS</a:t>
            </a:r>
          </a:p>
          <a:p>
            <a:r>
              <a:rPr lang="en-IN" sz="1600">
                <a:latin typeface="Verdana" panose="020B0604030504040204" pitchFamily="34" charset="0"/>
                <a:ea typeface="Verdana" panose="020B0604030504040204" pitchFamily="34" charset="0"/>
              </a:rPr>
              <a:t>BEGIN</a:t>
            </a:r>
          </a:p>
          <a:p>
            <a:r>
              <a:rPr lang="en-IN" sz="1600">
                <a:latin typeface="Verdana" panose="020B0604030504040204" pitchFamily="34" charset="0"/>
                <a:ea typeface="Verdana" panose="020B0604030504040204" pitchFamily="34" charset="0"/>
              </a:rPr>
              <a:t>    BEGIN TRY</a:t>
            </a:r>
          </a:p>
          <a:p>
            <a:r>
              <a:rPr lang="en-IN" sz="1600">
                <a:latin typeface="Verdana" panose="020B0604030504040204" pitchFamily="34" charset="0"/>
                <a:ea typeface="Verdana" panose="020B0604030504040204" pitchFamily="34" charset="0"/>
              </a:rPr>
              <a:t>        SET @c = @a / @b;</a:t>
            </a:r>
          </a:p>
          <a:p>
            <a:r>
              <a:rPr lang="en-IN" sz="1600">
                <a:latin typeface="Verdana" panose="020B0604030504040204" pitchFamily="34" charset="0"/>
                <a:ea typeface="Verdana" panose="020B0604030504040204" pitchFamily="34" charset="0"/>
              </a:rPr>
              <a:t>    END TRY</a:t>
            </a:r>
          </a:p>
          <a:p>
            <a:r>
              <a:rPr lang="en-IN" sz="1600">
                <a:latin typeface="Verdana" panose="020B0604030504040204" pitchFamily="34" charset="0"/>
                <a:ea typeface="Verdana" panose="020B0604030504040204" pitchFamily="34" charset="0"/>
              </a:rPr>
              <a:t>    BEGIN CATCH</a:t>
            </a:r>
          </a:p>
          <a:p>
            <a:r>
              <a:rPr lang="en-IN" sz="1600">
                <a:latin typeface="Verdana" panose="020B0604030504040204" pitchFamily="34" charset="0"/>
                <a:ea typeface="Verdana" panose="020B0604030504040204" pitchFamily="34" charset="0"/>
              </a:rPr>
              <a:t>        SELECT  </a:t>
            </a:r>
          </a:p>
          <a:p>
            <a:r>
              <a:rPr lang="en-IN" sz="1600">
                <a:latin typeface="Verdana" panose="020B0604030504040204" pitchFamily="34" charset="0"/>
                <a:ea typeface="Verdana" panose="020B0604030504040204" pitchFamily="34" charset="0"/>
              </a:rPr>
              <a:t>            ERROR_NUMBER() AS ErrorNumber  </a:t>
            </a:r>
          </a:p>
          <a:p>
            <a:r>
              <a:rPr lang="en-IN" sz="1600">
                <a:latin typeface="Verdana" panose="020B0604030504040204" pitchFamily="34" charset="0"/>
                <a:ea typeface="Verdana" panose="020B0604030504040204" pitchFamily="34" charset="0"/>
              </a:rPr>
              <a:t>            ,ERROR_SEVERITY() AS ErrorSeverity  </a:t>
            </a:r>
          </a:p>
          <a:p>
            <a:r>
              <a:rPr lang="en-IN" sz="1600">
                <a:latin typeface="Verdana" panose="020B0604030504040204" pitchFamily="34" charset="0"/>
                <a:ea typeface="Verdana" panose="020B0604030504040204" pitchFamily="34" charset="0"/>
              </a:rPr>
              <a:t>            ,ERROR_STATE() AS ErrorState  </a:t>
            </a:r>
          </a:p>
          <a:p>
            <a:r>
              <a:rPr lang="en-IN" sz="1600">
                <a:latin typeface="Verdana" panose="020B0604030504040204" pitchFamily="34" charset="0"/>
                <a:ea typeface="Verdana" panose="020B0604030504040204" pitchFamily="34" charset="0"/>
              </a:rPr>
              <a:t>            ,ERROR_PROCEDURE() AS ErrorProcedure  </a:t>
            </a:r>
          </a:p>
          <a:p>
            <a:r>
              <a:rPr lang="en-IN" sz="1600">
                <a:latin typeface="Verdana" panose="020B0604030504040204" pitchFamily="34" charset="0"/>
                <a:ea typeface="Verdana" panose="020B0604030504040204" pitchFamily="34" charset="0"/>
              </a:rPr>
              <a:t>            ,ERROR_LINE() AS ErrorLine  </a:t>
            </a:r>
          </a:p>
          <a:p>
            <a:r>
              <a:rPr lang="en-IN" sz="1600">
                <a:latin typeface="Verdana" panose="020B0604030504040204" pitchFamily="34" charset="0"/>
                <a:ea typeface="Verdana" panose="020B0604030504040204" pitchFamily="34" charset="0"/>
              </a:rPr>
              <a:t>            ,ERROR_MESSAGE() AS ErrorMessage;  </a:t>
            </a:r>
          </a:p>
          <a:p>
            <a:r>
              <a:rPr lang="en-IN" sz="1600">
                <a:latin typeface="Verdana" panose="020B0604030504040204" pitchFamily="34" charset="0"/>
                <a:ea typeface="Verdana" panose="020B0604030504040204" pitchFamily="34" charset="0"/>
              </a:rPr>
              <a:t>    END CATCH</a:t>
            </a:r>
          </a:p>
          <a:p>
            <a:r>
              <a:rPr lang="en-IN" sz="1600">
                <a:latin typeface="Verdana" panose="020B0604030504040204" pitchFamily="34" charset="0"/>
                <a:ea typeface="Verdana" panose="020B0604030504040204" pitchFamily="34" charset="0"/>
              </a:rPr>
              <a:t>END;</a:t>
            </a:r>
          </a:p>
          <a:p>
            <a:r>
              <a:rPr lang="en-IN" sz="1600">
                <a:latin typeface="Verdana" panose="020B0604030504040204" pitchFamily="34" charset="0"/>
                <a:ea typeface="Verdana" panose="020B0604030504040204" pitchFamily="34" charset="0"/>
              </a:rPr>
              <a:t>GO</a:t>
            </a:r>
          </a:p>
        </p:txBody>
      </p:sp>
      <p:sp>
        <p:nvSpPr>
          <p:cNvPr id="9" name="Rectangle 8">
            <a:extLst>
              <a:ext uri="{FF2B5EF4-FFF2-40B4-BE49-F238E27FC236}">
                <a16:creationId xmlns:a16="http://schemas.microsoft.com/office/drawing/2014/main" id="{F59A6CCD-DF69-B5E6-63C3-0E94A1185159}"/>
              </a:ext>
            </a:extLst>
          </p:cNvPr>
          <p:cNvSpPr/>
          <p:nvPr/>
        </p:nvSpPr>
        <p:spPr>
          <a:xfrm>
            <a:off x="1524000" y="137160"/>
            <a:ext cx="5893428" cy="43088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SP with TRY-CATCH</a:t>
            </a:r>
            <a:endParaRPr lang="en-IN" sz="2200" b="1"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946467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38F0BF78-61F5-4798-ABEC-18D6FE72AD23}"/>
              </a:ext>
            </a:extLst>
          </p:cNvPr>
          <p:cNvSpPr>
            <a:spLocks noGrp="1"/>
          </p:cNvSpPr>
          <p:nvPr>
            <p:ph type="ftr" sz="quarter" idx="5"/>
          </p:nvPr>
        </p:nvSpPr>
        <p:spPr/>
        <p:txBody>
          <a:bodyPr/>
          <a:lstStyle/>
          <a:p>
            <a:r>
              <a:rPr lang="en-US"/>
              <a:t>Stored Procedure</a:t>
            </a:r>
            <a:endParaRPr lang="en-IN" dirty="0"/>
          </a:p>
        </p:txBody>
      </p:sp>
      <p:sp>
        <p:nvSpPr>
          <p:cNvPr id="7" name="Slide Number Placeholder 6">
            <a:extLst>
              <a:ext uri="{FF2B5EF4-FFF2-40B4-BE49-F238E27FC236}">
                <a16:creationId xmlns:a16="http://schemas.microsoft.com/office/drawing/2014/main" id="{07B825E2-96CF-4F9F-B97D-365BA2CBF999}"/>
              </a:ext>
            </a:extLst>
          </p:cNvPr>
          <p:cNvSpPr>
            <a:spLocks noGrp="1"/>
          </p:cNvSpPr>
          <p:nvPr>
            <p:ph type="sldNum" sz="quarter" idx="7"/>
          </p:nvPr>
        </p:nvSpPr>
        <p:spPr/>
        <p:txBody>
          <a:bodyPr/>
          <a:lstStyle/>
          <a:p>
            <a:fld id="{B6F15528-21DE-4FAA-801E-634DDDAF4B2B}" type="slidenum">
              <a:rPr lang="en-IN" smtClean="0"/>
              <a:t>24</a:t>
            </a:fld>
            <a:endParaRPr lang="en-IN"/>
          </a:p>
        </p:txBody>
      </p:sp>
      <p:sp>
        <p:nvSpPr>
          <p:cNvPr id="8" name="Rectangle 7">
            <a:extLst>
              <a:ext uri="{FF2B5EF4-FFF2-40B4-BE49-F238E27FC236}">
                <a16:creationId xmlns:a16="http://schemas.microsoft.com/office/drawing/2014/main" id="{D877679C-46B5-EE1D-3AB4-9A22A7D830CE}"/>
              </a:ext>
            </a:extLst>
          </p:cNvPr>
          <p:cNvSpPr/>
          <p:nvPr/>
        </p:nvSpPr>
        <p:spPr>
          <a:xfrm>
            <a:off x="1447800" y="232378"/>
            <a:ext cx="5781782" cy="430887"/>
          </a:xfrm>
          <a:prstGeom prst="rect">
            <a:avLst/>
          </a:prstGeom>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342900" indent="-342900">
              <a:buFont typeface="Arial" panose="020B0604020202020204" pitchFamily="34" charset="0"/>
              <a:buChar char="•"/>
            </a:pPr>
            <a:r>
              <a:rPr lang="en-IN" sz="2200" b="1">
                <a:latin typeface="Verdana" panose="020B0604030504040204" pitchFamily="34" charset="0"/>
                <a:ea typeface="Verdana" panose="020B0604030504040204" pitchFamily="34" charset="0"/>
              </a:rPr>
              <a:t>Execute SP with TRY-CATCH</a:t>
            </a:r>
            <a:endParaRPr lang="en-IN" sz="2200" b="1" dirty="0">
              <a:latin typeface="Verdana" panose="020B0604030504040204" pitchFamily="34" charset="0"/>
              <a:ea typeface="Verdana" panose="020B0604030504040204" pitchFamily="34" charset="0"/>
            </a:endParaRPr>
          </a:p>
        </p:txBody>
      </p:sp>
      <p:sp>
        <p:nvSpPr>
          <p:cNvPr id="11" name="TextBox 10">
            <a:extLst>
              <a:ext uri="{FF2B5EF4-FFF2-40B4-BE49-F238E27FC236}">
                <a16:creationId xmlns:a16="http://schemas.microsoft.com/office/drawing/2014/main" id="{9F818976-5B01-0DA7-8BE9-9FF72231F1B9}"/>
              </a:ext>
            </a:extLst>
          </p:cNvPr>
          <p:cNvSpPr txBox="1"/>
          <p:nvPr/>
        </p:nvSpPr>
        <p:spPr>
          <a:xfrm>
            <a:off x="700784" y="1332865"/>
            <a:ext cx="9738615" cy="1150571"/>
          </a:xfrm>
          <a:prstGeom prst="rect">
            <a:avLst/>
          </a:prstGeom>
          <a:noFill/>
          <a:ln>
            <a:solidFill>
              <a:srgbClr val="2D73BA"/>
            </a:solidFill>
          </a:ln>
        </p:spPr>
        <p:txBody>
          <a:bodyPr wrap="square">
            <a:spAutoFit/>
          </a:bodyPr>
          <a:lstStyle/>
          <a:p>
            <a:pPr>
              <a:lnSpc>
                <a:spcPct val="150000"/>
              </a:lnSpc>
            </a:pPr>
            <a:r>
              <a:rPr lang="en-IN" sz="1600">
                <a:latin typeface="Verdana" panose="020B0604030504040204" pitchFamily="34" charset="0"/>
                <a:ea typeface="Verdana" panose="020B0604030504040204" pitchFamily="34" charset="0"/>
              </a:rPr>
              <a:t>DECLARE @r decimal;</a:t>
            </a:r>
          </a:p>
          <a:p>
            <a:pPr>
              <a:lnSpc>
                <a:spcPct val="150000"/>
              </a:lnSpc>
            </a:pPr>
            <a:r>
              <a:rPr lang="en-IN" sz="1600">
                <a:latin typeface="Verdana" panose="020B0604030504040204" pitchFamily="34" charset="0"/>
                <a:ea typeface="Verdana" panose="020B0604030504040204" pitchFamily="34" charset="0"/>
              </a:rPr>
              <a:t>EXEC usp_divide 10, 2, @r output;</a:t>
            </a:r>
          </a:p>
          <a:p>
            <a:pPr>
              <a:lnSpc>
                <a:spcPct val="150000"/>
              </a:lnSpc>
            </a:pPr>
            <a:r>
              <a:rPr lang="en-IN" sz="1600">
                <a:latin typeface="Verdana" panose="020B0604030504040204" pitchFamily="34" charset="0"/>
                <a:ea typeface="Verdana" panose="020B0604030504040204" pitchFamily="34" charset="0"/>
              </a:rPr>
              <a:t>PRINT @r;</a:t>
            </a:r>
          </a:p>
        </p:txBody>
      </p:sp>
      <p:sp>
        <p:nvSpPr>
          <p:cNvPr id="13" name="TextBox 12">
            <a:extLst>
              <a:ext uri="{FF2B5EF4-FFF2-40B4-BE49-F238E27FC236}">
                <a16:creationId xmlns:a16="http://schemas.microsoft.com/office/drawing/2014/main" id="{5289A796-06D5-63C1-BA9C-D1297D7FDD23}"/>
              </a:ext>
            </a:extLst>
          </p:cNvPr>
          <p:cNvSpPr txBox="1"/>
          <p:nvPr/>
        </p:nvSpPr>
        <p:spPr>
          <a:xfrm>
            <a:off x="706777" y="3794971"/>
            <a:ext cx="9732621" cy="1150571"/>
          </a:xfrm>
          <a:prstGeom prst="rect">
            <a:avLst/>
          </a:prstGeom>
          <a:noFill/>
          <a:ln>
            <a:solidFill>
              <a:srgbClr val="2D73BA"/>
            </a:solidFill>
          </a:ln>
        </p:spPr>
        <p:txBody>
          <a:bodyPr wrap="square">
            <a:spAutoFit/>
          </a:bodyPr>
          <a:lstStyle/>
          <a:p>
            <a:pPr>
              <a:lnSpc>
                <a:spcPct val="150000"/>
              </a:lnSpc>
            </a:pPr>
            <a:r>
              <a:rPr lang="en-IN" sz="1600">
                <a:latin typeface="Verdana" panose="020B0604030504040204" pitchFamily="34" charset="0"/>
                <a:ea typeface="Verdana" panose="020B0604030504040204" pitchFamily="34" charset="0"/>
              </a:rPr>
              <a:t>DECLARE @r2 decimal;</a:t>
            </a:r>
          </a:p>
          <a:p>
            <a:pPr>
              <a:lnSpc>
                <a:spcPct val="150000"/>
              </a:lnSpc>
            </a:pPr>
            <a:r>
              <a:rPr lang="en-IN" sz="1600">
                <a:latin typeface="Verdana" panose="020B0604030504040204" pitchFamily="34" charset="0"/>
                <a:ea typeface="Verdana" panose="020B0604030504040204" pitchFamily="34" charset="0"/>
              </a:rPr>
              <a:t>EXEC usp_divide 10, 0, @r2 output;</a:t>
            </a:r>
          </a:p>
          <a:p>
            <a:pPr>
              <a:lnSpc>
                <a:spcPct val="150000"/>
              </a:lnSpc>
            </a:pPr>
            <a:r>
              <a:rPr lang="en-IN" sz="1600">
                <a:latin typeface="Verdana" panose="020B0604030504040204" pitchFamily="34" charset="0"/>
                <a:ea typeface="Verdana" panose="020B0604030504040204" pitchFamily="34" charset="0"/>
              </a:rPr>
              <a:t>PRINT @r2;</a:t>
            </a:r>
          </a:p>
        </p:txBody>
      </p:sp>
      <p:pic>
        <p:nvPicPr>
          <p:cNvPr id="15" name="Picture 14">
            <a:extLst>
              <a:ext uri="{FF2B5EF4-FFF2-40B4-BE49-F238E27FC236}">
                <a16:creationId xmlns:a16="http://schemas.microsoft.com/office/drawing/2014/main" id="{CF2833C7-C22E-162F-44D8-4423C23BDA45}"/>
              </a:ext>
            </a:extLst>
          </p:cNvPr>
          <p:cNvPicPr>
            <a:picLocks noChangeAspect="1"/>
          </p:cNvPicPr>
          <p:nvPr/>
        </p:nvPicPr>
        <p:blipFill>
          <a:blip r:embed="rId2"/>
          <a:stretch>
            <a:fillRect/>
          </a:stretch>
        </p:blipFill>
        <p:spPr>
          <a:xfrm>
            <a:off x="649412" y="5038484"/>
            <a:ext cx="10347977" cy="1273598"/>
          </a:xfrm>
          <a:prstGeom prst="rect">
            <a:avLst/>
          </a:prstGeom>
        </p:spPr>
      </p:pic>
      <p:sp>
        <p:nvSpPr>
          <p:cNvPr id="10" name="TextBox 9">
            <a:extLst>
              <a:ext uri="{FF2B5EF4-FFF2-40B4-BE49-F238E27FC236}">
                <a16:creationId xmlns:a16="http://schemas.microsoft.com/office/drawing/2014/main" id="{0C984808-C34F-555F-97E1-DEB0469DCD7E}"/>
              </a:ext>
            </a:extLst>
          </p:cNvPr>
          <p:cNvSpPr txBox="1"/>
          <p:nvPr/>
        </p:nvSpPr>
        <p:spPr>
          <a:xfrm>
            <a:off x="668248" y="849739"/>
            <a:ext cx="10914151" cy="400110"/>
          </a:xfrm>
          <a:prstGeom prst="rect">
            <a:avLst/>
          </a:prstGeom>
          <a:noFill/>
        </p:spPr>
        <p:txBody>
          <a:bodyPr wrap="square">
            <a:spAutoFit/>
          </a:bodyPr>
          <a:lstStyle/>
          <a:p>
            <a:r>
              <a:rPr lang="en-US" sz="2000">
                <a:latin typeface="Verdana" panose="020B0604030504040204" pitchFamily="34" charset="0"/>
                <a:ea typeface="Verdana" panose="020B0604030504040204" pitchFamily="34" charset="0"/>
              </a:rPr>
              <a:t>call the usp_divide stored procedure to divide 10 by 2:</a:t>
            </a:r>
            <a:endParaRPr lang="en-IN" sz="2000">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DCE2E7F6-2C9D-3162-9903-63B350A1BE68}"/>
              </a:ext>
            </a:extLst>
          </p:cNvPr>
          <p:cNvSpPr txBox="1"/>
          <p:nvPr/>
        </p:nvSpPr>
        <p:spPr>
          <a:xfrm>
            <a:off x="700785" y="2611481"/>
            <a:ext cx="2652015" cy="400110"/>
          </a:xfrm>
          <a:prstGeom prst="rect">
            <a:avLst/>
          </a:prstGeom>
          <a:noFill/>
          <a:ln>
            <a:noFill/>
          </a:ln>
        </p:spPr>
        <p:txBody>
          <a:bodyPr wrap="square">
            <a:spAutoFit/>
          </a:bodyPr>
          <a:lstStyle/>
          <a:p>
            <a:r>
              <a:rPr lang="en-IN" sz="2000" b="0" i="0">
                <a:solidFill>
                  <a:srgbClr val="000000"/>
                </a:solidFill>
                <a:effectLst/>
                <a:latin typeface="Verdana" panose="020B0604030504040204" pitchFamily="34" charset="0"/>
                <a:ea typeface="Verdana" panose="020B0604030504040204" pitchFamily="34" charset="0"/>
              </a:rPr>
              <a:t>Here is the output:</a:t>
            </a:r>
            <a:endParaRPr lang="en-IN" sz="2000">
              <a:latin typeface="Verdana" panose="020B0604030504040204" pitchFamily="34" charset="0"/>
              <a:ea typeface="Verdana" panose="020B0604030504040204" pitchFamily="34" charset="0"/>
            </a:endParaRPr>
          </a:p>
        </p:txBody>
      </p:sp>
      <p:sp>
        <p:nvSpPr>
          <p:cNvPr id="17" name="TextBox 16">
            <a:extLst>
              <a:ext uri="{FF2B5EF4-FFF2-40B4-BE49-F238E27FC236}">
                <a16:creationId xmlns:a16="http://schemas.microsoft.com/office/drawing/2014/main" id="{5B6E0EF7-0EF3-C489-72E6-1ABF2EB47C9E}"/>
              </a:ext>
            </a:extLst>
          </p:cNvPr>
          <p:cNvSpPr txBox="1"/>
          <p:nvPr/>
        </p:nvSpPr>
        <p:spPr>
          <a:xfrm>
            <a:off x="649412" y="3212622"/>
            <a:ext cx="10721941" cy="400110"/>
          </a:xfrm>
          <a:prstGeom prst="rect">
            <a:avLst/>
          </a:prstGeom>
          <a:noFill/>
          <a:ln>
            <a:noFill/>
          </a:ln>
        </p:spPr>
        <p:txBody>
          <a:bodyPr wrap="square">
            <a:spAutoFit/>
          </a:bodyPr>
          <a:lstStyle/>
          <a:p>
            <a:r>
              <a:rPr lang="en-US" sz="2000">
                <a:latin typeface="Verdana" panose="020B0604030504040204" pitchFamily="34" charset="0"/>
                <a:ea typeface="Verdana" panose="020B0604030504040204" pitchFamily="34" charset="0"/>
              </a:rPr>
              <a:t>attempt to divide 20 by zero by calling the usp_divide stored procedure:</a:t>
            </a:r>
            <a:endParaRPr lang="en-IN" sz="2000">
              <a:latin typeface="Verdana" panose="020B0604030504040204" pitchFamily="34" charset="0"/>
              <a:ea typeface="Verdana" panose="020B0604030504040204" pitchFamily="34" charset="0"/>
            </a:endParaRPr>
          </a:p>
        </p:txBody>
      </p:sp>
      <p:pic>
        <p:nvPicPr>
          <p:cNvPr id="4" name="Picture 3">
            <a:extLst>
              <a:ext uri="{FF2B5EF4-FFF2-40B4-BE49-F238E27FC236}">
                <a16:creationId xmlns:a16="http://schemas.microsoft.com/office/drawing/2014/main" id="{F1019DAB-CA8A-AA83-BC27-B71B8FE97E3D}"/>
              </a:ext>
            </a:extLst>
          </p:cNvPr>
          <p:cNvPicPr>
            <a:picLocks noChangeAspect="1"/>
          </p:cNvPicPr>
          <p:nvPr/>
        </p:nvPicPr>
        <p:blipFill>
          <a:blip r:embed="rId3"/>
          <a:stretch>
            <a:fillRect/>
          </a:stretch>
        </p:blipFill>
        <p:spPr>
          <a:xfrm>
            <a:off x="3352800" y="2635594"/>
            <a:ext cx="5601500" cy="685416"/>
          </a:xfrm>
          <a:prstGeom prst="rect">
            <a:avLst/>
          </a:prstGeom>
        </p:spPr>
      </p:pic>
    </p:spTree>
    <p:extLst>
      <p:ext uri="{BB962C8B-B14F-4D97-AF65-F5344CB8AC3E}">
        <p14:creationId xmlns:p14="http://schemas.microsoft.com/office/powerpoint/2010/main" val="3096903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8DFC60F-937A-4875-8551-ED1AC9C061D7}"/>
              </a:ext>
            </a:extLst>
          </p:cNvPr>
          <p:cNvSpPr>
            <a:spLocks noGrp="1"/>
          </p:cNvSpPr>
          <p:nvPr>
            <p:ph type="ftr" sz="quarter" idx="5"/>
          </p:nvPr>
        </p:nvSpPr>
        <p:spPr>
          <a:xfrm>
            <a:off x="4145280" y="6377940"/>
            <a:ext cx="3901440" cy="276999"/>
          </a:xfrm>
        </p:spPr>
        <p:txBody>
          <a:bodyPr/>
          <a:lstStyle/>
          <a:p>
            <a:r>
              <a:rPr lang="en-US">
                <a:solidFill>
                  <a:schemeClr val="bg1">
                    <a:lumMod val="75000"/>
                  </a:schemeClr>
                </a:solidFill>
                <a:latin typeface="Segoe UI" panose="020B0502040204020203" pitchFamily="34" charset="0"/>
                <a:cs typeface="Segoe UI" panose="020B0502040204020203" pitchFamily="34" charset="0"/>
              </a:rPr>
              <a:t>Stored Procedure</a:t>
            </a:r>
            <a:endParaRPr lang="en-IN" dirty="0">
              <a:solidFill>
                <a:schemeClr val="bg1">
                  <a:lumMod val="75000"/>
                </a:schemeClr>
              </a:solidFill>
              <a:latin typeface="Segoe UI" panose="020B0502040204020203" pitchFamily="34" charset="0"/>
              <a:cs typeface="Segoe UI" panose="020B0502040204020203" pitchFamily="34" charset="0"/>
            </a:endParaRPr>
          </a:p>
        </p:txBody>
      </p:sp>
      <p:sp>
        <p:nvSpPr>
          <p:cNvPr id="13" name="Slide Number Placeholder 12">
            <a:extLst>
              <a:ext uri="{FF2B5EF4-FFF2-40B4-BE49-F238E27FC236}">
                <a16:creationId xmlns:a16="http://schemas.microsoft.com/office/drawing/2014/main" id="{51C0708C-7EEF-41DF-B895-DC7F1A4816E3}"/>
              </a:ext>
            </a:extLst>
          </p:cNvPr>
          <p:cNvSpPr>
            <a:spLocks noGrp="1"/>
          </p:cNvSpPr>
          <p:nvPr>
            <p:ph type="sldNum" sz="quarter" idx="7"/>
          </p:nvPr>
        </p:nvSpPr>
        <p:spPr/>
        <p:txBody>
          <a:bodyPr/>
          <a:lstStyle/>
          <a:p>
            <a:fld id="{B6F15528-21DE-4FAA-801E-634DDDAF4B2B}" type="slidenum">
              <a:rPr lang="en-IN" dirty="0" smtClean="0"/>
              <a:t>25</a:t>
            </a:fld>
            <a:endParaRPr lang="en-IN" dirty="0"/>
          </a:p>
        </p:txBody>
      </p:sp>
      <p:sp>
        <p:nvSpPr>
          <p:cNvPr id="2" name="object 3">
            <a:extLst>
              <a:ext uri="{FF2B5EF4-FFF2-40B4-BE49-F238E27FC236}">
                <a16:creationId xmlns:a16="http://schemas.microsoft.com/office/drawing/2014/main" id="{69B19165-613D-A609-920B-FE398AAD43BF}"/>
              </a:ext>
            </a:extLst>
          </p:cNvPr>
          <p:cNvSpPr txBox="1">
            <a:spLocks noGrp="1"/>
          </p:cNvSpPr>
          <p:nvPr>
            <p:ph type="title"/>
          </p:nvPr>
        </p:nvSpPr>
        <p:spPr>
          <a:xfrm>
            <a:off x="484937" y="967123"/>
            <a:ext cx="11277600" cy="351378"/>
          </a:xfrm>
          <a:prstGeom prst="rect">
            <a:avLst/>
          </a:prstGeom>
        </p:spPr>
        <p:txBody>
          <a:bodyPr vert="horz" wrap="square" lIns="0" tIns="12700" rIns="0" bIns="0" rtlCol="0" anchor="t">
            <a:spAutoFit/>
          </a:bodyPr>
          <a:lstStyle/>
          <a:p>
            <a:pPr marL="12700">
              <a:lnSpc>
                <a:spcPct val="100000"/>
              </a:lnSpc>
              <a:spcBef>
                <a:spcPts val="100"/>
              </a:spcBef>
            </a:pPr>
            <a:r>
              <a:rPr lang="en-IN" sz="2200" spc="30" dirty="0">
                <a:solidFill>
                  <a:srgbClr val="2D73BA"/>
                </a:solidFill>
              </a:rPr>
              <a:t>https://www.w3schools.com/sql/sql_stored_procedures.asp</a:t>
            </a:r>
            <a:endParaRPr lang="en-US" sz="2200" spc="30" dirty="0">
              <a:solidFill>
                <a:srgbClr val="2D73BA"/>
              </a:solidFill>
            </a:endParaRPr>
          </a:p>
        </p:txBody>
      </p:sp>
      <p:sp>
        <p:nvSpPr>
          <p:cNvPr id="3" name="object 5">
            <a:extLst>
              <a:ext uri="{FF2B5EF4-FFF2-40B4-BE49-F238E27FC236}">
                <a16:creationId xmlns:a16="http://schemas.microsoft.com/office/drawing/2014/main" id="{21A1FE2D-BFE2-9D3D-0746-33DBF7846FCC}"/>
              </a:ext>
            </a:extLst>
          </p:cNvPr>
          <p:cNvSpPr txBox="1"/>
          <p:nvPr/>
        </p:nvSpPr>
        <p:spPr>
          <a:xfrm>
            <a:off x="4330245" y="317178"/>
            <a:ext cx="2811464" cy="505267"/>
          </a:xfrm>
          <a:prstGeom prst="rect">
            <a:avLst/>
          </a:prstGeom>
        </p:spPr>
        <p:txBody>
          <a:bodyPr vert="horz" wrap="square" lIns="0" tIns="12700" rIns="0" bIns="0" rtlCol="0" anchor="t">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3200" b="1" i="0" u="none" strike="noStrike" kern="1200" cap="none" spc="-160" normalizeH="0" baseline="0" noProof="0" dirty="0">
                <a:ln>
                  <a:noFill/>
                </a:ln>
                <a:solidFill>
                  <a:srgbClr val="2D73BA"/>
                </a:solidFill>
                <a:effectLst/>
                <a:uLnTx/>
                <a:uFillTx/>
                <a:latin typeface="Verdana"/>
                <a:ea typeface="+mn-ea"/>
                <a:cs typeface="Verdana"/>
              </a:rPr>
              <a:t>References</a:t>
            </a:r>
            <a:endParaRPr kumimoji="0" sz="3200" b="1" i="0" u="none" strike="noStrike" kern="1200" cap="none" spc="0" normalizeH="0" baseline="0" noProof="0" dirty="0">
              <a:ln>
                <a:noFill/>
              </a:ln>
              <a:solidFill>
                <a:srgbClr val="2D73BA"/>
              </a:solidFill>
              <a:effectLst/>
              <a:uLnTx/>
              <a:uFillTx/>
              <a:latin typeface="Verdana"/>
              <a:ea typeface="+mn-ea"/>
              <a:cs typeface="Verdana"/>
            </a:endParaRPr>
          </a:p>
        </p:txBody>
      </p:sp>
      <p:sp>
        <p:nvSpPr>
          <p:cNvPr id="4" name="object 3">
            <a:extLst>
              <a:ext uri="{FF2B5EF4-FFF2-40B4-BE49-F238E27FC236}">
                <a16:creationId xmlns:a16="http://schemas.microsoft.com/office/drawing/2014/main" id="{62B3FB78-F9A9-A81D-D286-FBFD6ECA250A}"/>
              </a:ext>
            </a:extLst>
          </p:cNvPr>
          <p:cNvSpPr txBox="1">
            <a:spLocks/>
          </p:cNvSpPr>
          <p:nvPr/>
        </p:nvSpPr>
        <p:spPr>
          <a:xfrm>
            <a:off x="473468" y="1514944"/>
            <a:ext cx="11277600" cy="689932"/>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https://learn.microsoft.com/en-us/sql/relational-databases/stored-procedures/create-a-stored-procedure</a:t>
            </a:r>
            <a:endParaRPr lang="en-US" sz="2200" spc="30" dirty="0">
              <a:solidFill>
                <a:srgbClr val="2D73BA"/>
              </a:solidFill>
            </a:endParaRPr>
          </a:p>
        </p:txBody>
      </p:sp>
      <p:sp>
        <p:nvSpPr>
          <p:cNvPr id="6" name="object 3">
            <a:extLst>
              <a:ext uri="{FF2B5EF4-FFF2-40B4-BE49-F238E27FC236}">
                <a16:creationId xmlns:a16="http://schemas.microsoft.com/office/drawing/2014/main" id="{AD6BC9D6-8857-37EF-1233-A953B96D965E}"/>
              </a:ext>
            </a:extLst>
          </p:cNvPr>
          <p:cNvSpPr txBox="1">
            <a:spLocks/>
          </p:cNvSpPr>
          <p:nvPr/>
        </p:nvSpPr>
        <p:spPr>
          <a:xfrm>
            <a:off x="440932" y="2457656"/>
            <a:ext cx="11277600" cy="351378"/>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https://www.javatpoint.com/stored-procedure-in-sql-server</a:t>
            </a:r>
            <a:endParaRPr lang="en-US" sz="2200" spc="30" dirty="0">
              <a:solidFill>
                <a:srgbClr val="2D73BA"/>
              </a:solidFill>
            </a:endParaRPr>
          </a:p>
        </p:txBody>
      </p:sp>
      <p:sp>
        <p:nvSpPr>
          <p:cNvPr id="7" name="object 3">
            <a:extLst>
              <a:ext uri="{FF2B5EF4-FFF2-40B4-BE49-F238E27FC236}">
                <a16:creationId xmlns:a16="http://schemas.microsoft.com/office/drawing/2014/main" id="{39C9561C-6C94-499E-AA7D-2D7A3A81ABF5}"/>
              </a:ext>
            </a:extLst>
          </p:cNvPr>
          <p:cNvSpPr txBox="1">
            <a:spLocks/>
          </p:cNvSpPr>
          <p:nvPr/>
        </p:nvSpPr>
        <p:spPr>
          <a:xfrm>
            <a:off x="459982" y="3049603"/>
            <a:ext cx="11277600" cy="351378"/>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https://www.sqlshack.com/sql-server-stored-procedures-for-beginners/</a:t>
            </a:r>
            <a:endParaRPr lang="en-US" sz="2200" spc="30" dirty="0">
              <a:solidFill>
                <a:srgbClr val="2D73BA"/>
              </a:solidFill>
            </a:endParaRPr>
          </a:p>
        </p:txBody>
      </p:sp>
      <p:sp>
        <p:nvSpPr>
          <p:cNvPr id="8" name="object 3">
            <a:extLst>
              <a:ext uri="{FF2B5EF4-FFF2-40B4-BE49-F238E27FC236}">
                <a16:creationId xmlns:a16="http://schemas.microsoft.com/office/drawing/2014/main" id="{9C523C8F-3AC3-513F-63F6-2C4402F0A606}"/>
              </a:ext>
            </a:extLst>
          </p:cNvPr>
          <p:cNvSpPr txBox="1">
            <a:spLocks/>
          </p:cNvSpPr>
          <p:nvPr/>
        </p:nvSpPr>
        <p:spPr>
          <a:xfrm>
            <a:off x="473468" y="3641550"/>
            <a:ext cx="11277600" cy="351378"/>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https://www.tutorialsteacher.com/sqlserver/stored-procedures</a:t>
            </a:r>
          </a:p>
        </p:txBody>
      </p:sp>
      <p:sp>
        <p:nvSpPr>
          <p:cNvPr id="9" name="object 3">
            <a:extLst>
              <a:ext uri="{FF2B5EF4-FFF2-40B4-BE49-F238E27FC236}">
                <a16:creationId xmlns:a16="http://schemas.microsoft.com/office/drawing/2014/main" id="{8011ECF8-7524-9772-937E-A7311408C740}"/>
              </a:ext>
            </a:extLst>
          </p:cNvPr>
          <p:cNvSpPr txBox="1">
            <a:spLocks/>
          </p:cNvSpPr>
          <p:nvPr/>
        </p:nvSpPr>
        <p:spPr>
          <a:xfrm>
            <a:off x="457200" y="4233497"/>
            <a:ext cx="11277600" cy="689932"/>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https://www.c-sharpcorner.com/article/how-to-create-a-stored-procedure-in-sql-server-management-studio/</a:t>
            </a:r>
            <a:endParaRPr lang="en-US" sz="2200" spc="30" dirty="0">
              <a:solidFill>
                <a:srgbClr val="2D73BA"/>
              </a:solidFill>
            </a:endParaRPr>
          </a:p>
        </p:txBody>
      </p:sp>
      <p:sp>
        <p:nvSpPr>
          <p:cNvPr id="10" name="object 3">
            <a:extLst>
              <a:ext uri="{FF2B5EF4-FFF2-40B4-BE49-F238E27FC236}">
                <a16:creationId xmlns:a16="http://schemas.microsoft.com/office/drawing/2014/main" id="{4B4D9417-3063-ED27-69C6-0E484B2382B6}"/>
              </a:ext>
            </a:extLst>
          </p:cNvPr>
          <p:cNvSpPr txBox="1">
            <a:spLocks/>
          </p:cNvSpPr>
          <p:nvPr/>
        </p:nvSpPr>
        <p:spPr>
          <a:xfrm>
            <a:off x="484937" y="5241702"/>
            <a:ext cx="11325368" cy="351378"/>
          </a:xfrm>
          <a:prstGeom prst="rect">
            <a:avLst/>
          </a:prstGeom>
        </p:spPr>
        <p:txBody>
          <a:bodyPr vert="horz" wrap="square" lIns="0" tIns="12700" rIns="0" bIns="0" rtlCol="0" anchor="t">
            <a:spAutoFit/>
          </a:bodyPr>
          <a:lstStyle>
            <a:lvl1pPr>
              <a:defRPr sz="3600" b="0" i="0">
                <a:solidFill>
                  <a:srgbClr val="1F1F1F"/>
                </a:solidFill>
                <a:latin typeface="Verdana"/>
                <a:ea typeface="+mj-ea"/>
                <a:cs typeface="Verdana"/>
              </a:defRPr>
            </a:lvl1pPr>
          </a:lstStyle>
          <a:p>
            <a:pPr marL="12700">
              <a:spcBef>
                <a:spcPts val="100"/>
              </a:spcBef>
            </a:pPr>
            <a:r>
              <a:rPr lang="en-IN" sz="2200" spc="30" dirty="0">
                <a:solidFill>
                  <a:srgbClr val="2D73BA"/>
                </a:solidFill>
              </a:rPr>
              <a:t>https://www.programiz.com/sql/stored-procedures</a:t>
            </a:r>
            <a:endParaRPr lang="en-US" sz="2200" spc="30" dirty="0">
              <a:solidFill>
                <a:srgbClr val="2D73BA"/>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631B4C166C254EADC7B7A46A466779" ma:contentTypeVersion="9" ma:contentTypeDescription="Create a new document." ma:contentTypeScope="" ma:versionID="39bb9f476dbf01db3cb3f513063fd2a2">
  <xsd:schema xmlns:xsd="http://www.w3.org/2001/XMLSchema" xmlns:xs="http://www.w3.org/2001/XMLSchema" xmlns:p="http://schemas.microsoft.com/office/2006/metadata/properties" xmlns:ns2="046b20ee-d16d-4186-b653-87d67288dfe1" xmlns:ns3="fdc68219-26c2-4844-b429-879a109ace40" targetNamespace="http://schemas.microsoft.com/office/2006/metadata/properties" ma:root="true" ma:fieldsID="3877a2f312a74d191b015c8c744a7a91" ns2:_="" ns3:_="">
    <xsd:import namespace="046b20ee-d16d-4186-b653-87d67288dfe1"/>
    <xsd:import namespace="fdc68219-26c2-4844-b429-879a109ace4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Tag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6b20ee-d16d-4186-b653-87d67288df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dc68219-26c2-4844-b429-879a109ace4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B95BC3F-D72D-46B1-AAF0-CA7A83C71D79}">
  <ds:schemaRefs>
    <ds:schemaRef ds:uri="http://schemas.microsoft.com/sharepoint/v3/contenttype/forms"/>
  </ds:schemaRefs>
</ds:datastoreItem>
</file>

<file path=customXml/itemProps2.xml><?xml version="1.0" encoding="utf-8"?>
<ds:datastoreItem xmlns:ds="http://schemas.openxmlformats.org/officeDocument/2006/customXml" ds:itemID="{695FA578-C85E-405B-8C39-31F7D654E697}">
  <ds:schemaRefs>
    <ds:schemaRef ds:uri="http://purl.org/dc/terms/"/>
    <ds:schemaRef ds:uri="http://purl.org/dc/dcmitype/"/>
    <ds:schemaRef ds:uri="http://schemas.microsoft.com/office/2006/documentManagement/types"/>
    <ds:schemaRef ds:uri="http://schemas.microsoft.com/office/2006/metadata/properties"/>
    <ds:schemaRef ds:uri="046b20ee-d16d-4186-b653-87d67288dfe1"/>
    <ds:schemaRef ds:uri="fdc68219-26c2-4844-b429-879a109ace40"/>
    <ds:schemaRef ds:uri="http://www.w3.org/XML/1998/namespace"/>
    <ds:schemaRef ds:uri="http://schemas.openxmlformats.org/package/2006/metadata/core-properties"/>
    <ds:schemaRef ds:uri="http://schemas.microsoft.com/office/infopath/2007/PartnerControls"/>
    <ds:schemaRef ds:uri="http://purl.org/dc/elements/1.1/"/>
  </ds:schemaRefs>
</ds:datastoreItem>
</file>

<file path=customXml/itemProps3.xml><?xml version="1.0" encoding="utf-8"?>
<ds:datastoreItem xmlns:ds="http://schemas.openxmlformats.org/officeDocument/2006/customXml" ds:itemID="{82BFD533-2FE0-498F-B229-A6CB4FE653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6b20ee-d16d-4186-b653-87d67288dfe1"/>
    <ds:schemaRef ds:uri="fdc68219-26c2-4844-b429-879a109ace4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763</TotalTime>
  <Words>1498</Words>
  <Application>Microsoft Office PowerPoint</Application>
  <PresentationFormat>Widescreen</PresentationFormat>
  <Paragraphs>233</Paragraphs>
  <Slides>25</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Arial</vt:lpstr>
      <vt:lpstr>Calibri</vt:lpstr>
      <vt:lpstr>Segoe UI</vt:lpstr>
      <vt:lpstr>Verdana</vt:lpstr>
      <vt:lpstr>Office Theme</vt:lpstr>
      <vt:lpstr>2_Office Theme</vt:lpstr>
      <vt:lpstr>Stored Procedures in MS-SQL Server</vt:lpstr>
      <vt:lpstr>PowerPoint Presentation</vt:lpstr>
      <vt:lpstr>Stored Procedures in MS-SQL Server</vt:lpstr>
      <vt:lpstr>PowerPoint Presentation</vt:lpstr>
      <vt:lpstr>Advantages of using Stored Procedures </vt:lpstr>
      <vt:lpstr>PowerPoint Presentation</vt:lpstr>
      <vt:lpstr>PowerPoint Presentation</vt:lpstr>
      <vt:lpstr>PowerPoint Presentation</vt:lpstr>
      <vt:lpstr>PowerPoint Presentation</vt:lpstr>
      <vt:lpstr>Creating a Stored Procedure</vt:lpstr>
      <vt:lpstr>PowerPoint Presentation</vt:lpstr>
      <vt:lpstr>Modifying a Stored Procedure</vt:lpstr>
      <vt:lpstr>PowerPoint Presentation</vt:lpstr>
      <vt:lpstr>Deleting a Stored Procedure</vt:lpstr>
      <vt:lpstr>PowerPoint Presentation</vt:lpstr>
      <vt:lpstr>Parameterized Stored Procedure</vt:lpstr>
      <vt:lpstr>PowerPoint Presentation</vt:lpstr>
      <vt:lpstr>PowerPoint Presentation</vt:lpstr>
      <vt:lpstr>PowerPoint Presentation</vt:lpstr>
      <vt:lpstr>Exception Handling</vt:lpstr>
      <vt:lpstr>PowerPoint Presentation</vt:lpstr>
      <vt:lpstr>PowerPoint Presentation</vt:lpstr>
      <vt:lpstr>PowerPoint Presentation</vt:lpstr>
      <vt:lpstr>PowerPoint Presentation</vt:lpstr>
      <vt:lpstr>https://www.w3schools.com/sql/sql_stored_procedures.asp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Internet and WWW</dc:title>
  <dc:creator>Kaar User</dc:creator>
  <cp:lastModifiedBy>CE -Mentor</cp:lastModifiedBy>
  <cp:revision>137</cp:revision>
  <dcterms:created xsi:type="dcterms:W3CDTF">2023-03-15T12:46:08Z</dcterms:created>
  <dcterms:modified xsi:type="dcterms:W3CDTF">2025-03-03T17:54:07Z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0x01010078631B4C166C254EADC7B7A46A466779</vt:lpwstr>
  </property>
</Properties>
</file>