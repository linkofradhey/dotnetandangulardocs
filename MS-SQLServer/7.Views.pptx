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2" r:id="rId5"/>
  </p:sldMasterIdLst>
  <p:notesMasterIdLst>
    <p:notesMasterId r:id="rId21"/>
  </p:notesMasterIdLst>
  <p:sldIdLst>
    <p:sldId id="256" r:id="rId6"/>
    <p:sldId id="257" r:id="rId7"/>
    <p:sldId id="258" r:id="rId8"/>
    <p:sldId id="308" r:id="rId9"/>
    <p:sldId id="310" r:id="rId10"/>
    <p:sldId id="315" r:id="rId11"/>
    <p:sldId id="311" r:id="rId12"/>
    <p:sldId id="312" r:id="rId13"/>
    <p:sldId id="314" r:id="rId14"/>
    <p:sldId id="309" r:id="rId15"/>
    <p:sldId id="317" r:id="rId16"/>
    <p:sldId id="318" r:id="rId17"/>
    <p:sldId id="316" r:id="rId18"/>
    <p:sldId id="313" r:id="rId19"/>
    <p:sldId id="283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3BA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4660"/>
  </p:normalViewPr>
  <p:slideViewPr>
    <p:cSldViewPr>
      <p:cViewPr varScale="1">
        <p:scale>
          <a:sx n="75" d="100"/>
          <a:sy n="75" d="100"/>
        </p:scale>
        <p:origin x="821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56647-89B1-42F3-9A5F-1446C446734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9D9FB-1D01-48BF-AE8F-A64DB01B7C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2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2667000"/>
            <a:ext cx="9737728" cy="574039"/>
          </a:xfrm>
        </p:spPr>
        <p:txBody>
          <a:bodyPr lIns="0" tIns="0" rIns="0" bIns="0"/>
          <a:lstStyle>
            <a:lvl1pPr>
              <a:defRPr sz="3600" b="0" i="0">
                <a:solidFill>
                  <a:srgbClr val="2D73BA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3A9F0-0B9D-4B3E-9905-D2A2EC895DA4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096000" y="1762125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1" y="4645479"/>
                </a:lnTo>
              </a:path>
            </a:pathLst>
          </a:custGeom>
          <a:ln w="254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A942-FECD-4937-95C7-27000F62632D}" type="datetime1">
              <a:rPr lang="en-US" smtClean="0"/>
              <a:t>6/5/2025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090A7048-987D-91C5-E06F-B1D5467051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916" y="0"/>
            <a:ext cx="505341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33999" y="1922779"/>
            <a:ext cx="5630863" cy="574039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3650E-55F0-4589-9BCE-4B64CF674C23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C66BD-959C-4DCA-B30C-516CA7C05FD2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98F9C8C1-E342-AFBD-A7CE-6418609BC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916" y="0"/>
            <a:ext cx="505341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00600" y="1922779"/>
            <a:ext cx="614692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00600" y="3840480"/>
            <a:ext cx="55626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6C6FD-7EFE-4C01-B65C-7998A0D5C41E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CF852E1-6F60-BFCD-296B-C2D5D6EE97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" y="2621280"/>
            <a:ext cx="1219200" cy="121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3744" y="2092811"/>
            <a:ext cx="10104511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6CDC8-2BA1-4DBB-9EFC-C52B78348B7D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1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C8A65-6D7B-4318-96A4-7A27EEF8FFB3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608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39591-9FEB-4C10-BA81-B1D7DCA638B4}" type="datetime1">
              <a:rPr lang="en-US" smtClean="0"/>
              <a:t>6/5/2025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CCF29-763E-A160-BFE4-EEEA28EF4716}"/>
              </a:ext>
            </a:extLst>
          </p:cNvPr>
          <p:cNvSpPr/>
          <p:nvPr userDrawn="1"/>
        </p:nvSpPr>
        <p:spPr>
          <a:xfrm>
            <a:off x="6096000" y="1577340"/>
            <a:ext cx="45719" cy="4526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23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8DF9A-0AA2-40F7-9DBA-66E17B874519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CE1DB-19F6-AA44-4862-E419FEA222C1}"/>
              </a:ext>
            </a:extLst>
          </p:cNvPr>
          <p:cNvSpPr/>
          <p:nvPr userDrawn="1"/>
        </p:nvSpPr>
        <p:spPr>
          <a:xfrm>
            <a:off x="785375" y="3383281"/>
            <a:ext cx="1062124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81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0D80A00D-1493-0520-C8A4-EA587A66C3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C3F23-5763-4457-98CF-0989CB16C3B2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140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135" y="1922779"/>
            <a:ext cx="973772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773" y="2011171"/>
            <a:ext cx="10900452" cy="3402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F4FEC-3801-4747-9C37-E032F9C80FED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6974D-2071-5725-CC56-0B4379646DD7}"/>
              </a:ext>
            </a:extLst>
          </p:cNvPr>
          <p:cNvSpPr/>
          <p:nvPr userDrawn="1"/>
        </p:nvSpPr>
        <p:spPr>
          <a:xfrm>
            <a:off x="785375" y="3383281"/>
            <a:ext cx="10621248" cy="45719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5375" y="2718906"/>
            <a:ext cx="10621248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View in MS SQL Server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BA176-623C-4B81-A13D-2BE785808AAA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91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667000" y="4579833"/>
            <a:ext cx="3571240" cy="1255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IN" sz="2400" spc="20" dirty="0">
                <a:solidFill>
                  <a:srgbClr val="2D73BA"/>
                </a:solidFill>
                <a:latin typeface="Verdana"/>
                <a:cs typeface="Verdana"/>
              </a:rPr>
              <a:t>Soyeb Ghachi</a:t>
            </a:r>
            <a:endParaRPr sz="2400" dirty="0">
              <a:solidFill>
                <a:srgbClr val="2D73BA"/>
              </a:solidFill>
              <a:latin typeface="Verdana"/>
              <a:cs typeface="Verdana"/>
            </a:endParaRPr>
          </a:p>
          <a:p>
            <a:pPr marL="12700">
              <a:lnSpc>
                <a:spcPct val="150000"/>
              </a:lnSpc>
            </a:pPr>
            <a:r>
              <a:rPr lang="en-IN" sz="1600" spc="65" dirty="0">
                <a:solidFill>
                  <a:srgbClr val="202020"/>
                </a:solidFill>
                <a:latin typeface="Verdana"/>
                <a:cs typeface="Verdana"/>
              </a:rPr>
              <a:t>Technical Trainer | Mentor |SME</a:t>
            </a:r>
          </a:p>
          <a:p>
            <a:pPr marL="12700">
              <a:lnSpc>
                <a:spcPct val="150000"/>
              </a:lnSpc>
            </a:pPr>
            <a:endParaRPr sz="16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3932" y="2647479"/>
            <a:ext cx="107686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Views in MS-SQL Server</a:t>
            </a:r>
            <a:endParaRPr lang="en-IN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6C66D1-E72B-2387-9B0A-CB049C464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670389"/>
            <a:ext cx="1428750" cy="14439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E1C5440-B524-ECD9-DEF7-43EA9E9F6D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13761" y="6377940"/>
            <a:ext cx="4632959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in MS SQL Server</a:t>
            </a:r>
            <a:endParaRPr lang="en-US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37ECC-511E-49FF-B962-47A8C46AE1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4BE80-9AB5-38B2-37C3-AF6DF0B7FB4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920093-7FE7-43C2-B224-C202A5E8B9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C429740-DB83-53F4-3A4C-541E50A89375}"/>
              </a:ext>
            </a:extLst>
          </p:cNvPr>
          <p:cNvSpPr txBox="1"/>
          <p:nvPr/>
        </p:nvSpPr>
        <p:spPr>
          <a:xfrm>
            <a:off x="990600" y="1752600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Verdana"/>
                <a:cs typeface="Verdana"/>
              </a:rPr>
              <a:t>Overview</a:t>
            </a:r>
            <a:endParaRPr sz="3600" dirty="0">
              <a:solidFill>
                <a:prstClr val="black"/>
              </a:solidFill>
              <a:latin typeface="Verdana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0104E-7755-5054-F27B-652D0B682E81}"/>
              </a:ext>
            </a:extLst>
          </p:cNvPr>
          <p:cNvSpPr txBox="1"/>
          <p:nvPr/>
        </p:nvSpPr>
        <p:spPr>
          <a:xfrm>
            <a:off x="4648200" y="838200"/>
            <a:ext cx="72390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Views in </a:t>
            </a:r>
            <a:r>
              <a:rPr lang="en-IN" sz="24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MS-SQL Server</a:t>
            </a:r>
          </a:p>
          <a:p>
            <a:pPr>
              <a:lnSpc>
                <a:spcPct val="200000"/>
              </a:lnSpc>
            </a:pPr>
            <a:r>
              <a:rPr lang="en-IN" sz="24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Advantages of Views</a:t>
            </a:r>
            <a:endParaRPr lang="en-IN" sz="24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IN" sz="24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Creating a View</a:t>
            </a:r>
            <a:endParaRPr lang="en-IN" sz="24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IN" sz="24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Modifying a View</a:t>
            </a:r>
            <a:endParaRPr lang="en-IN" sz="24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Removing a View</a:t>
            </a:r>
            <a:endParaRPr lang="en-US" sz="24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sz="2400" dirty="0">
              <a:solidFill>
                <a:srgbClr val="2D73BA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5713"/>
            <a:ext cx="10591800" cy="492443"/>
          </a:xfrm>
        </p:spPr>
        <p:txBody>
          <a:bodyPr/>
          <a:lstStyle/>
          <a:p>
            <a:r>
              <a:rPr lang="en-US" sz="3200" dirty="0">
                <a:solidFill>
                  <a:srgbClr val="2D73BA"/>
                </a:solidFill>
              </a:rPr>
              <a:t>Views in MS-SQL Server</a:t>
            </a:r>
            <a:endParaRPr lang="en-IN" sz="2800" dirty="0">
              <a:solidFill>
                <a:srgbClr val="2D73B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in MS SQL Server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8B51D9-2478-2A62-A4A5-6140729FCC18}"/>
              </a:ext>
            </a:extLst>
          </p:cNvPr>
          <p:cNvSpPr/>
          <p:nvPr/>
        </p:nvSpPr>
        <p:spPr>
          <a:xfrm>
            <a:off x="1143000" y="609600"/>
            <a:ext cx="10439400" cy="25630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>
                <a:latin typeface="Verdana" panose="020B0604030504040204" pitchFamily="34" charset="0"/>
                <a:ea typeface="Verdana" panose="020B0604030504040204" pitchFamily="34" charset="0"/>
              </a:rPr>
              <a:t>In MS-SQL Server, views are virtual database objects that represent the result of a pre-defined query. </a:t>
            </a:r>
          </a:p>
          <a:p>
            <a:pPr>
              <a:lnSpc>
                <a:spcPct val="150000"/>
              </a:lnSpc>
            </a:pPr>
            <a:r>
              <a:rPr lang="en-US" sz="2200">
                <a:latin typeface="Verdana" panose="020B0604030504040204" pitchFamily="34" charset="0"/>
                <a:ea typeface="Verdana" panose="020B0604030504040204" pitchFamily="34" charset="0"/>
              </a:rPr>
              <a:t>They are used to simplify complex queries, provide a layer of abstraction, and offer a way to encapsulate frequently used queries into a reusable structure. </a:t>
            </a:r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6A833-78F0-F1CD-9E72-ED06FB677450}"/>
              </a:ext>
            </a:extLst>
          </p:cNvPr>
          <p:cNvSpPr txBox="1"/>
          <p:nvPr/>
        </p:nvSpPr>
        <p:spPr>
          <a:xfrm>
            <a:off x="1257728" y="3810000"/>
            <a:ext cx="10287000" cy="11505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CREATE VIEW [OR ALTER] view_name [(column_list)]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AS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select_statement;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98A8AD-A0AC-F33F-CB1B-7F721ECDA0D1}"/>
              </a:ext>
            </a:extLst>
          </p:cNvPr>
          <p:cNvSpPr/>
          <p:nvPr/>
        </p:nvSpPr>
        <p:spPr>
          <a:xfrm>
            <a:off x="1447800" y="113347"/>
            <a:ext cx="9982200" cy="15473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A view may consist of columns from multiple tables using joins or just a subset of columns of a single table. This makes views useful for abstracting or hiding complex queries.</a:t>
            </a:r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 descr="SQL Server Views">
            <a:extLst>
              <a:ext uri="{FF2B5EF4-FFF2-40B4-BE49-F238E27FC236}">
                <a16:creationId xmlns:a16="http://schemas.microsoft.com/office/drawing/2014/main" id="{E156EB87-3F1D-F9BE-1099-C25BB6CFA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300" y="1770327"/>
            <a:ext cx="5791200" cy="48855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024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5713"/>
            <a:ext cx="10591800" cy="1354217"/>
          </a:xfrm>
        </p:spPr>
        <p:txBody>
          <a:bodyPr/>
          <a:lstStyle/>
          <a:p>
            <a:r>
              <a:rPr lang="en-IN" sz="3200" dirty="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Advantages of views</a:t>
            </a:r>
            <a:br>
              <a:rPr lang="en-IN" sz="3200" dirty="0">
                <a:solidFill>
                  <a:srgbClr val="2D73B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IN" sz="2800" dirty="0">
                <a:solidFill>
                  <a:srgbClr val="2D73B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sz="2800" dirty="0">
              <a:solidFill>
                <a:srgbClr val="2D73B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in MS SQL Server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3CCAED-D0AD-471A-1C31-8CC859277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17813"/>
            <a:ext cx="9144000" cy="307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8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711E45-F4EA-CC28-88A1-8F375A3A2D93}"/>
              </a:ext>
            </a:extLst>
          </p:cNvPr>
          <p:cNvSpPr/>
          <p:nvPr/>
        </p:nvSpPr>
        <p:spPr>
          <a:xfrm>
            <a:off x="609600" y="228600"/>
            <a:ext cx="3570208" cy="43088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IN" sz="2200" b="1" dirty="0">
                <a:latin typeface="Verdana" panose="020B0604030504040204" pitchFamily="34" charset="0"/>
                <a:ea typeface="Verdana" panose="020B0604030504040204" pitchFamily="34" charset="0"/>
              </a:rPr>
              <a:t>Advantages of views: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97452-D015-485B-A517-B0B174FE6528}"/>
              </a:ext>
            </a:extLst>
          </p:cNvPr>
          <p:cNvSpPr/>
          <p:nvPr/>
        </p:nvSpPr>
        <p:spPr>
          <a:xfrm>
            <a:off x="533400" y="869206"/>
            <a:ext cx="10820400" cy="30708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Security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You can restrict users to access directly to a table and allow them to access a subset of data via views.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For example, you can allow users to access customer name, phone, email via a view but restrict them to access the bank account and other sensitive information.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405F7-2669-7E90-E86C-5B808605773C}"/>
              </a:ext>
            </a:extLst>
          </p:cNvPr>
          <p:cNvSpPr/>
          <p:nvPr/>
        </p:nvSpPr>
        <p:spPr>
          <a:xfrm>
            <a:off x="609600" y="4170086"/>
            <a:ext cx="10744200" cy="25630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Simplicity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A relational database may have many tables with complex relationships e.g., one-to-one and one-to-many that make it difficult to navigate.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However, you can simplify the complex queries with joins and conditions using a set of views.</a:t>
            </a:r>
          </a:p>
        </p:txBody>
      </p:sp>
    </p:spTree>
    <p:extLst>
      <p:ext uri="{BB962C8B-B14F-4D97-AF65-F5344CB8AC3E}">
        <p14:creationId xmlns:p14="http://schemas.microsoft.com/office/powerpoint/2010/main" val="363671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E5200-A788-D5BF-FEB0-D3286F05EA35}"/>
              </a:ext>
            </a:extLst>
          </p:cNvPr>
          <p:cNvSpPr/>
          <p:nvPr/>
        </p:nvSpPr>
        <p:spPr>
          <a:xfrm>
            <a:off x="685800" y="228600"/>
            <a:ext cx="10820400" cy="20551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Consistency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Sometimes, you need to write a complex formula or logic in every query.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To make it consistent, you can hide the complex queries logic and calculations in views.</a:t>
            </a:r>
          </a:p>
        </p:txBody>
      </p:sp>
    </p:spTree>
    <p:extLst>
      <p:ext uri="{BB962C8B-B14F-4D97-AF65-F5344CB8AC3E}">
        <p14:creationId xmlns:p14="http://schemas.microsoft.com/office/powerpoint/2010/main" val="1590829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5713"/>
            <a:ext cx="10591800" cy="984885"/>
          </a:xfrm>
        </p:spPr>
        <p:txBody>
          <a:bodyPr/>
          <a:lstStyle/>
          <a:p>
            <a:r>
              <a:rPr lang="en-IN" sz="3200" dirty="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Creating View</a:t>
            </a:r>
            <a:br>
              <a:rPr lang="en-IN" sz="3200" dirty="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</a:br>
            <a:endParaRPr lang="en-IN" sz="32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in MS SQL Server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3CCAED-D0AD-471A-1C31-8CC859277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17813"/>
            <a:ext cx="9144000" cy="307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62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381F9-0D2A-5AF4-4A7D-F0B1F17C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12" y="701381"/>
            <a:ext cx="9144000" cy="3385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  <a:cs typeface="Courier New" pitchFamily="49" charset="0"/>
              </a:rPr>
              <a:t>Creating View</a:t>
            </a: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11ACC-CA3A-0989-D91C-A960533A86EC}"/>
              </a:ext>
            </a:extLst>
          </p:cNvPr>
          <p:cNvSpPr txBox="1"/>
          <p:nvPr/>
        </p:nvSpPr>
        <p:spPr>
          <a:xfrm>
            <a:off x="574497" y="1287051"/>
            <a:ext cx="5292903" cy="3735895"/>
          </a:xfrm>
          <a:prstGeom prst="rect">
            <a:avLst/>
          </a:prstGeom>
          <a:noFill/>
          <a:ln>
            <a:solidFill>
              <a:srgbClr val="2D73BA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CREATE VIEW Select_Products_With_Brand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AS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SELECT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product_name,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brand_name,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list_price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FROM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products p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INNER JOIN brands b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    ON b.brand_id = p.brand_id;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054CC-5360-F2EA-916A-2F2898464713}"/>
              </a:ext>
            </a:extLst>
          </p:cNvPr>
          <p:cNvSpPr txBox="1"/>
          <p:nvPr/>
        </p:nvSpPr>
        <p:spPr>
          <a:xfrm>
            <a:off x="553948" y="5778124"/>
            <a:ext cx="5334000" cy="369332"/>
          </a:xfrm>
          <a:prstGeom prst="rect">
            <a:avLst/>
          </a:prstGeom>
          <a:noFill/>
          <a:ln>
            <a:solidFill>
              <a:srgbClr val="2D73BA"/>
            </a:solidFill>
          </a:ln>
        </p:spPr>
        <p:txBody>
          <a:bodyPr wrap="square">
            <a:spAutoFit/>
          </a:bodyPr>
          <a:lstStyle/>
          <a:p>
            <a:r>
              <a:rPr lang="en-US"/>
              <a:t>SELECT * FROM </a:t>
            </a: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Select_Products_With_Brand</a:t>
            </a:r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F72B2-7963-E161-1B5D-9BDF04A8D118}"/>
              </a:ext>
            </a:extLst>
          </p:cNvPr>
          <p:cNvSpPr txBox="1"/>
          <p:nvPr/>
        </p:nvSpPr>
        <p:spPr>
          <a:xfrm>
            <a:off x="539200" y="5185091"/>
            <a:ext cx="60977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Verdana" panose="020B0604030504040204" pitchFamily="34" charset="0"/>
                <a:ea typeface="Verdana" panose="020B0604030504040204" pitchFamily="34" charset="0"/>
              </a:rPr>
              <a:t>Executing a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7B8D8-12D5-B647-80C3-13983C41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57" y="2053667"/>
            <a:ext cx="5374143" cy="41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3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5713"/>
            <a:ext cx="10591800" cy="984885"/>
          </a:xfrm>
        </p:spPr>
        <p:txBody>
          <a:bodyPr/>
          <a:lstStyle/>
          <a:p>
            <a:r>
              <a:rPr lang="en-IN" sz="32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Modifying a </a:t>
            </a:r>
            <a:r>
              <a:rPr lang="en-IN" sz="3200" dirty="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View</a:t>
            </a:r>
            <a:br>
              <a:rPr lang="en-IN" sz="3200" dirty="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</a:br>
            <a:endParaRPr lang="en-IN" sz="32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in MS SQL Server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3CCAED-D0AD-471A-1C31-8CC859277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17813"/>
            <a:ext cx="9144000" cy="307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390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381F9-0D2A-5AF4-4A7D-F0B1F17C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12" y="701381"/>
            <a:ext cx="9144000" cy="3385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  <a:cs typeface="Courier New" pitchFamily="49" charset="0"/>
              </a:rPr>
              <a:t>Alter a 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  <a:cs typeface="Courier New" pitchFamily="49" charset="0"/>
              </a:rPr>
              <a:t>View</a:t>
            </a: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11ACC-CA3A-0989-D91C-A960533A86EC}"/>
              </a:ext>
            </a:extLst>
          </p:cNvPr>
          <p:cNvSpPr txBox="1"/>
          <p:nvPr/>
        </p:nvSpPr>
        <p:spPr>
          <a:xfrm>
            <a:off x="574497" y="1287051"/>
            <a:ext cx="5521503" cy="4105226"/>
          </a:xfrm>
          <a:prstGeom prst="rect">
            <a:avLst/>
          </a:prstGeom>
          <a:noFill/>
          <a:ln>
            <a:solidFill>
              <a:srgbClr val="2D73BA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ALTER VIEW Select_Products_With_Brand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AS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SELECT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600" b="1">
                <a:latin typeface="Verdana" panose="020B0604030504040204" pitchFamily="34" charset="0"/>
                <a:ea typeface="Verdana" panose="020B0604030504040204" pitchFamily="34" charset="0"/>
              </a:rPr>
              <a:t>product_id</a:t>
            </a: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product_name,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brand_name,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list_price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FROM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products p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INNER JOIN brands b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        ON b.brand_id = p.brand_id;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054CC-5360-F2EA-916A-2F2898464713}"/>
              </a:ext>
            </a:extLst>
          </p:cNvPr>
          <p:cNvSpPr txBox="1"/>
          <p:nvPr/>
        </p:nvSpPr>
        <p:spPr>
          <a:xfrm>
            <a:off x="576556" y="5852622"/>
            <a:ext cx="5402264" cy="369332"/>
          </a:xfrm>
          <a:prstGeom prst="rect">
            <a:avLst/>
          </a:prstGeom>
          <a:noFill/>
          <a:ln>
            <a:solidFill>
              <a:srgbClr val="2D73BA"/>
            </a:solidFill>
          </a:ln>
        </p:spPr>
        <p:txBody>
          <a:bodyPr wrap="square">
            <a:spAutoFit/>
          </a:bodyPr>
          <a:lstStyle/>
          <a:p>
            <a:r>
              <a:rPr lang="en-US"/>
              <a:t>SELECT * FROM </a:t>
            </a:r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Select_Products_With_Brand</a:t>
            </a:r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F72B2-7963-E161-1B5D-9BDF04A8D118}"/>
              </a:ext>
            </a:extLst>
          </p:cNvPr>
          <p:cNvSpPr txBox="1"/>
          <p:nvPr/>
        </p:nvSpPr>
        <p:spPr>
          <a:xfrm>
            <a:off x="491964" y="5355505"/>
            <a:ext cx="60977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>
                <a:latin typeface="Verdana" panose="020B0604030504040204" pitchFamily="34" charset="0"/>
                <a:ea typeface="Verdana" panose="020B0604030504040204" pitchFamily="34" charset="0"/>
              </a:rPr>
              <a:t>Executing a 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765D77-872D-C7EF-20C5-1FA74F605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772" y="2686450"/>
            <a:ext cx="5402264" cy="353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8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9D8BCF-2369-47E9-B871-0D9E5441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5713"/>
            <a:ext cx="10591800" cy="492443"/>
          </a:xfrm>
        </p:spPr>
        <p:txBody>
          <a:bodyPr/>
          <a:lstStyle/>
          <a:p>
            <a:r>
              <a:rPr lang="en-US" sz="3200">
                <a:solidFill>
                  <a:srgbClr val="2D73BA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Removing a View</a:t>
            </a:r>
            <a:endParaRPr lang="en-US" sz="3200" dirty="0">
              <a:solidFill>
                <a:srgbClr val="2D73BA"/>
              </a:solidFill>
              <a:latin typeface="Verdana" panose="020B0604030504040204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1551-B901-41A6-BE8B-FC11CFBEEE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 in MS SQL Server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D233-6021-4F23-92DE-ABD6BADE63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3CCAED-D0AD-471A-1C31-8CC859277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17813"/>
            <a:ext cx="9144000" cy="307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75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BF78-61F5-4798-ABEC-18D6FE72AD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View in MS SQL Server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825E2-96CF-4F9F-B97D-365BA2CBF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41A59-6237-C0A8-5A22-CD5D9B7D8D87}"/>
              </a:ext>
            </a:extLst>
          </p:cNvPr>
          <p:cNvSpPr/>
          <p:nvPr/>
        </p:nvSpPr>
        <p:spPr>
          <a:xfrm>
            <a:off x="685800" y="798023"/>
            <a:ext cx="10896600" cy="154734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SQL Server drop view using Transact-SQL: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To remove a view from a database, you use the DROP VIEW statement as follows:</a:t>
            </a:r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32128948-25CD-5B92-AEE5-419E177F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2342"/>
            <a:ext cx="7765611" cy="32833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BD9D88-936C-6412-FA91-5B6FF887ED3B}"/>
              </a:ext>
            </a:extLst>
          </p:cNvPr>
          <p:cNvSpPr txBox="1"/>
          <p:nvPr/>
        </p:nvSpPr>
        <p:spPr>
          <a:xfrm>
            <a:off x="838200" y="3429000"/>
            <a:ext cx="7765610" cy="338554"/>
          </a:xfrm>
          <a:prstGeom prst="rect">
            <a:avLst/>
          </a:prstGeom>
          <a:noFill/>
          <a:ln>
            <a:solidFill>
              <a:srgbClr val="2D73BA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DROP VIEW Select_Products_With_Brand </a:t>
            </a:r>
          </a:p>
        </p:txBody>
      </p:sp>
    </p:spTree>
    <p:extLst>
      <p:ext uri="{BB962C8B-B14F-4D97-AF65-F5344CB8AC3E}">
        <p14:creationId xmlns:p14="http://schemas.microsoft.com/office/powerpoint/2010/main" val="188719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8DFC60F-937A-4875-8551-ED1AC9C061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DML</a:t>
            </a:r>
            <a:endParaRPr lang="en-IN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1C0708C-7EEF-41DF-B895-DC7F1A4816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dirty="0" smtClean="0"/>
              <a:t>15</a:t>
            </a:fld>
            <a:endParaRPr lang="en-IN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9B19165-613D-A609-920B-FE398AAD4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25312"/>
            <a:ext cx="11277600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https://www.w3schools.com/sql/sql_view.asp</a:t>
            </a:r>
            <a:endParaRPr lang="en-US" sz="2200" spc="30" dirty="0">
              <a:solidFill>
                <a:srgbClr val="2D73BA"/>
              </a:solidFill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21A1FE2D-BFE2-9D3D-0746-33DBF7846FCC}"/>
              </a:ext>
            </a:extLst>
          </p:cNvPr>
          <p:cNvSpPr txBox="1"/>
          <p:nvPr/>
        </p:nvSpPr>
        <p:spPr>
          <a:xfrm>
            <a:off x="4330245" y="317178"/>
            <a:ext cx="2811464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60" normalizeH="0" baseline="0" noProof="0" dirty="0">
                <a:ln>
                  <a:noFill/>
                </a:ln>
                <a:solidFill>
                  <a:srgbClr val="2D73BA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References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2D73BA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2B3FB78-F9A9-A81D-D286-FBFD6ECA250A}"/>
              </a:ext>
            </a:extLst>
          </p:cNvPr>
          <p:cNvSpPr txBox="1">
            <a:spLocks/>
          </p:cNvSpPr>
          <p:nvPr/>
        </p:nvSpPr>
        <p:spPr>
          <a:xfrm>
            <a:off x="473468" y="1715669"/>
            <a:ext cx="11277600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https://learn.microsoft.com/en-us/sql/relational-databases/views/views</a:t>
            </a:r>
            <a:endParaRPr lang="en-US" sz="2200" spc="30" dirty="0">
              <a:solidFill>
                <a:srgbClr val="2D73BA"/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D6BC9D6-8857-37EF-1233-A953B96D965E}"/>
              </a:ext>
            </a:extLst>
          </p:cNvPr>
          <p:cNvSpPr txBox="1">
            <a:spLocks/>
          </p:cNvSpPr>
          <p:nvPr/>
        </p:nvSpPr>
        <p:spPr>
          <a:xfrm>
            <a:off x="457200" y="2369914"/>
            <a:ext cx="11277600" cy="68993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https://www.sqlshack.com/sql-view-a-complete-introduction-and-walk-through/</a:t>
            </a:r>
            <a:endParaRPr lang="en-US" sz="2200" spc="30" dirty="0">
              <a:solidFill>
                <a:srgbClr val="2D73BA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9C9561C-6C94-499E-AA7D-2D7A3A81ABF5}"/>
              </a:ext>
            </a:extLst>
          </p:cNvPr>
          <p:cNvSpPr txBox="1">
            <a:spLocks/>
          </p:cNvSpPr>
          <p:nvPr/>
        </p:nvSpPr>
        <p:spPr>
          <a:xfrm>
            <a:off x="473468" y="3362714"/>
            <a:ext cx="11277600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https://www.tutorialsteacher.com/sqlserver/views</a:t>
            </a:r>
            <a:endParaRPr lang="en-US" sz="2200" spc="30" dirty="0">
              <a:solidFill>
                <a:srgbClr val="2D73BA"/>
              </a:solidFill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C523C8F-3AC3-513F-63F6-2C4402F0A606}"/>
              </a:ext>
            </a:extLst>
          </p:cNvPr>
          <p:cNvSpPr txBox="1">
            <a:spLocks/>
          </p:cNvSpPr>
          <p:nvPr/>
        </p:nvSpPr>
        <p:spPr>
          <a:xfrm>
            <a:off x="469507" y="3927418"/>
            <a:ext cx="11277600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https://www.javatpoint.com/view-in-sql-server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011ECF8-7524-9772-937E-A7311408C740}"/>
              </a:ext>
            </a:extLst>
          </p:cNvPr>
          <p:cNvSpPr txBox="1">
            <a:spLocks/>
          </p:cNvSpPr>
          <p:nvPr/>
        </p:nvSpPr>
        <p:spPr>
          <a:xfrm>
            <a:off x="483937" y="4428853"/>
            <a:ext cx="11277600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https://www.c-sharpcorner.com/UploadFile/f0b2ed/views-in-sql-server/</a:t>
            </a:r>
            <a:endParaRPr lang="en-US" sz="2200" spc="30" dirty="0">
              <a:solidFill>
                <a:srgbClr val="2D73BA"/>
              </a:solidFill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4B4D9417-3063-ED27-69C6-0E484B2382B6}"/>
              </a:ext>
            </a:extLst>
          </p:cNvPr>
          <p:cNvSpPr txBox="1">
            <a:spLocks/>
          </p:cNvSpPr>
          <p:nvPr/>
        </p:nvSpPr>
        <p:spPr>
          <a:xfrm>
            <a:off x="483937" y="5003082"/>
            <a:ext cx="11325368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3600" b="0" i="0">
                <a:solidFill>
                  <a:srgbClr val="1F1F1F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2200" spc="30" dirty="0">
                <a:solidFill>
                  <a:srgbClr val="2D73BA"/>
                </a:solidFill>
              </a:rPr>
              <a:t>https://www.sqlservertutorial.net/sql-server-views/</a:t>
            </a:r>
            <a:endParaRPr lang="en-US" sz="2200" spc="30" dirty="0">
              <a:solidFill>
                <a:srgbClr val="2D73B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631B4C166C254EADC7B7A46A466779" ma:contentTypeVersion="9" ma:contentTypeDescription="Create a new document." ma:contentTypeScope="" ma:versionID="39bb9f476dbf01db3cb3f513063fd2a2">
  <xsd:schema xmlns:xsd="http://www.w3.org/2001/XMLSchema" xmlns:xs="http://www.w3.org/2001/XMLSchema" xmlns:p="http://schemas.microsoft.com/office/2006/metadata/properties" xmlns:ns2="046b20ee-d16d-4186-b653-87d67288dfe1" xmlns:ns3="fdc68219-26c2-4844-b429-879a109ace40" targetNamespace="http://schemas.microsoft.com/office/2006/metadata/properties" ma:root="true" ma:fieldsID="3877a2f312a74d191b015c8c744a7a91" ns2:_="" ns3:_="">
    <xsd:import namespace="046b20ee-d16d-4186-b653-87d67288dfe1"/>
    <xsd:import namespace="fdc68219-26c2-4844-b429-879a109ace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b20ee-d16d-4186-b653-87d67288df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c68219-26c2-4844-b429-879a109ace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5FA578-C85E-405B-8C39-31F7D654E697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046b20ee-d16d-4186-b653-87d67288dfe1"/>
    <ds:schemaRef ds:uri="fdc68219-26c2-4844-b429-879a109ace40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B95BC3F-D72D-46B1-AAF0-CA7A83C71D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BFD533-2FE0-498F-B229-A6CB4FE653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6b20ee-d16d-4186-b653-87d67288dfe1"/>
    <ds:schemaRef ds:uri="fdc68219-26c2-4844-b429-879a109ace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617</Words>
  <Application>Microsoft Office PowerPoint</Application>
  <PresentationFormat>Widescreen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Segoe UI</vt:lpstr>
      <vt:lpstr>Verdana</vt:lpstr>
      <vt:lpstr>Office Theme</vt:lpstr>
      <vt:lpstr>2_Office Theme</vt:lpstr>
      <vt:lpstr>Views in MS-SQL Server</vt:lpstr>
      <vt:lpstr>PowerPoint Presentation</vt:lpstr>
      <vt:lpstr>Views in MS-SQL Server</vt:lpstr>
      <vt:lpstr>PowerPoint Presentation</vt:lpstr>
      <vt:lpstr>PowerPoint Presentation</vt:lpstr>
      <vt:lpstr>Advantages of views  </vt:lpstr>
      <vt:lpstr>PowerPoint Presentation</vt:lpstr>
      <vt:lpstr>PowerPoint Presentation</vt:lpstr>
      <vt:lpstr>Creating View </vt:lpstr>
      <vt:lpstr>PowerPoint Presentation</vt:lpstr>
      <vt:lpstr>Modifying a View </vt:lpstr>
      <vt:lpstr>PowerPoint Presentation</vt:lpstr>
      <vt:lpstr>Removing a View</vt:lpstr>
      <vt:lpstr>PowerPoint Presentation</vt:lpstr>
      <vt:lpstr>https://www.w3schools.com/sql/sql_view.asp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Internet and WWW</dc:title>
  <dc:creator>Kaar User</dc:creator>
  <cp:lastModifiedBy>Soyeb Ghachi</cp:lastModifiedBy>
  <cp:revision>140</cp:revision>
  <dcterms:created xsi:type="dcterms:W3CDTF">2023-03-15T12:46:08Z</dcterms:created>
  <dcterms:modified xsi:type="dcterms:W3CDTF">2025-06-05T06:01:08Z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0x01010078631B4C166C254EADC7B7A46A466779</vt:lpwstr>
  </property>
</Properties>
</file>